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2" r:id="rId2"/>
    <p:sldId id="283" r:id="rId3"/>
    <p:sldId id="265" r:id="rId4"/>
    <p:sldId id="284" r:id="rId5"/>
    <p:sldId id="285" r:id="rId6"/>
    <p:sldId id="266" r:id="rId7"/>
    <p:sldId id="256" r:id="rId8"/>
    <p:sldId id="267" r:id="rId9"/>
    <p:sldId id="257" r:id="rId10"/>
    <p:sldId id="258" r:id="rId11"/>
    <p:sldId id="299" r:id="rId12"/>
    <p:sldId id="300" r:id="rId13"/>
    <p:sldId id="259" r:id="rId14"/>
    <p:sldId id="301" r:id="rId15"/>
    <p:sldId id="302" r:id="rId16"/>
    <p:sldId id="303" r:id="rId17"/>
    <p:sldId id="260" r:id="rId18"/>
    <p:sldId id="287" r:id="rId19"/>
    <p:sldId id="286" r:id="rId20"/>
    <p:sldId id="289" r:id="rId21"/>
    <p:sldId id="290" r:id="rId22"/>
    <p:sldId id="291" r:id="rId23"/>
    <p:sldId id="292" r:id="rId24"/>
    <p:sldId id="293" r:id="rId25"/>
    <p:sldId id="261" r:id="rId26"/>
    <p:sldId id="294" r:id="rId27"/>
    <p:sldId id="288" r:id="rId28"/>
    <p:sldId id="295" r:id="rId29"/>
    <p:sldId id="296" r:id="rId30"/>
    <p:sldId id="297" r:id="rId31"/>
    <p:sldId id="298" r:id="rId32"/>
    <p:sldId id="262" r:id="rId33"/>
    <p:sldId id="264" r:id="rId34"/>
    <p:sldId id="268" r:id="rId35"/>
    <p:sldId id="278" r:id="rId36"/>
    <p:sldId id="279" r:id="rId37"/>
    <p:sldId id="270" r:id="rId38"/>
    <p:sldId id="271" r:id="rId39"/>
    <p:sldId id="272" r:id="rId40"/>
    <p:sldId id="273" r:id="rId41"/>
    <p:sldId id="276" r:id="rId42"/>
    <p:sldId id="277" r:id="rId43"/>
    <p:sldId id="274" r:id="rId44"/>
    <p:sldId id="275" r:id="rId45"/>
    <p:sldId id="280" r:id="rId46"/>
    <p:sldId id="281" r:id="rId4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2D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66" y="995042"/>
            <a:ext cx="6759871" cy="848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3066" y="2240617"/>
            <a:ext cx="11720195" cy="66094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4C41-804D-C09C-CCEA-B9D9A4D31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233" y="2857500"/>
            <a:ext cx="15277534" cy="312047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7200" b="1" dirty="0"/>
              <a:t>Welcome Back! Let's Get Started.</a:t>
            </a:r>
            <a:br>
              <a:rPr lang="en-US" sz="7200" b="1" dirty="0"/>
            </a:br>
            <a:r>
              <a:rPr lang="en-US" sz="7200" b="1" dirty="0"/>
              <a:t>Lecture: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4E3FB-BD6D-6B8D-C57A-F34CD5D5ABFD}"/>
              </a:ext>
            </a:extLst>
          </p:cNvPr>
          <p:cNvSpPr txBox="1"/>
          <p:nvPr/>
        </p:nvSpPr>
        <p:spPr>
          <a:xfrm>
            <a:off x="12954000" y="9105900"/>
            <a:ext cx="518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Sushil Shrestha</a:t>
            </a:r>
            <a:endParaRPr lang="en-US" sz="6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61540590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5A33D-2E0A-0F3B-E0BE-64A71713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05A7-6D6F-9FD6-2006-AC5A0271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233" y="2103597"/>
            <a:ext cx="15277534" cy="6079806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b="1" dirty="0"/>
              <a:t>Lecture: 2</a:t>
            </a:r>
            <a:br>
              <a:rPr lang="en-US" b="1" dirty="0"/>
            </a:br>
            <a:r>
              <a:rPr lang="en-US" b="1" dirty="0">
                <a:solidFill>
                  <a:srgbClr val="00B050"/>
                </a:solidFill>
              </a:rPr>
              <a:t>‘Introduction of String’,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“Indexing and Slicing”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””” .String_method()”””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C108F-1873-D136-036F-8E85201416F4}"/>
              </a:ext>
            </a:extLst>
          </p:cNvPr>
          <p:cNvSpPr txBox="1"/>
          <p:nvPr/>
        </p:nvSpPr>
        <p:spPr>
          <a:xfrm>
            <a:off x="12954000" y="9105900"/>
            <a:ext cx="518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Sushil Shrestha</a:t>
            </a:r>
            <a:endParaRPr lang="en-US" sz="6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061752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A51B1-9FEC-9727-B681-1EB689DFA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A95C4C-D599-9BF5-C914-F19036B0EF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971DC3-C202-ACF0-B114-037A2AD65810}"/>
              </a:ext>
            </a:extLst>
          </p:cNvPr>
          <p:cNvSpPr/>
          <p:nvPr/>
        </p:nvSpPr>
        <p:spPr>
          <a:xfrm>
            <a:off x="989577" y="1844304"/>
            <a:ext cx="2097405" cy="23495"/>
          </a:xfrm>
          <a:custGeom>
            <a:avLst/>
            <a:gdLst/>
            <a:ahLst/>
            <a:cxnLst/>
            <a:rect l="l" t="t" r="r" b="b"/>
            <a:pathLst>
              <a:path w="2097405" h="23494">
                <a:moveTo>
                  <a:pt x="0" y="23283"/>
                </a:moveTo>
                <a:lnTo>
                  <a:pt x="2096916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089DC-FCDD-910D-C5DF-D8673C17991F}"/>
              </a:ext>
            </a:extLst>
          </p:cNvPr>
          <p:cNvSpPr txBox="1"/>
          <p:nvPr/>
        </p:nvSpPr>
        <p:spPr>
          <a:xfrm>
            <a:off x="953066" y="2095500"/>
            <a:ext cx="159268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 </a:t>
            </a:r>
            <a:r>
              <a:rPr lang="en-US" sz="4400" b="1" dirty="0">
                <a:solidFill>
                  <a:schemeClr val="bg1"/>
                </a:solidFill>
                <a:latin typeface="+mj-lt"/>
              </a:rPr>
              <a:t>string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is a sequence of characters enclosed in quotation marks.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8D031-A10B-5ADB-4013-1D54F9B559D7}"/>
              </a:ext>
            </a:extLst>
          </p:cNvPr>
          <p:cNvSpPr txBox="1"/>
          <p:nvPr/>
        </p:nvSpPr>
        <p:spPr>
          <a:xfrm>
            <a:off x="989577" y="3092642"/>
            <a:ext cx="9144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u="sng" dirty="0">
                <a:solidFill>
                  <a:schemeClr val="bg1"/>
                </a:solidFill>
                <a:latin typeface="+mj-lt"/>
              </a:rPr>
              <a:t>A string can contain: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Letters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Numbers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Symbols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Spaces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20C762-168D-3A8F-D8D2-74670AB26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3467100"/>
            <a:ext cx="8452349" cy="638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9365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40A20-C387-E3AD-578F-E38A47DB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46B676-3E56-0304-7E89-CC08382822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2C3760E-C917-68FD-B854-3C3C28D64923}"/>
              </a:ext>
            </a:extLst>
          </p:cNvPr>
          <p:cNvSpPr/>
          <p:nvPr/>
        </p:nvSpPr>
        <p:spPr>
          <a:xfrm>
            <a:off x="989577" y="1844304"/>
            <a:ext cx="2097405" cy="23495"/>
          </a:xfrm>
          <a:custGeom>
            <a:avLst/>
            <a:gdLst/>
            <a:ahLst/>
            <a:cxnLst/>
            <a:rect l="l" t="t" r="r" b="b"/>
            <a:pathLst>
              <a:path w="2097405" h="23494">
                <a:moveTo>
                  <a:pt x="0" y="23283"/>
                </a:moveTo>
                <a:lnTo>
                  <a:pt x="2096916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1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961A424-C843-075C-B7A0-95AC82B33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0" t="7321" r="6131" b="10014"/>
          <a:stretch>
            <a:fillRect/>
          </a:stretch>
        </p:blipFill>
        <p:spPr>
          <a:xfrm>
            <a:off x="4327558" y="1419223"/>
            <a:ext cx="12042837" cy="844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12064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F720E-1882-1CB0-2707-4165281F4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28E8C9-7DD2-5C8E-11C8-D5DC61E2AA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0" y="952500"/>
            <a:ext cx="6759871" cy="848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10" dirty="0"/>
              <a:t>Strings</a:t>
            </a:r>
            <a:r>
              <a:rPr lang="en-US" u="sng" spc="-10" dirty="0"/>
              <a:t> Example</a:t>
            </a:r>
            <a:endParaRPr u="sng" spc="-1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39F04F-CF1D-CEEC-6003-462E371D6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095500"/>
            <a:ext cx="9372600" cy="7801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DB3369-EBD7-B829-2026-61E280A5FC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543"/>
          <a:stretch>
            <a:fillRect/>
          </a:stretch>
        </p:blipFill>
        <p:spPr>
          <a:xfrm>
            <a:off x="12039600" y="2933700"/>
            <a:ext cx="5562600" cy="561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08510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AE709-A850-F7A5-3EC6-DDD9533D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8EB592-2BDF-7B11-9975-66B9BC15DB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489DFE1-46DF-0A15-D193-4A3714E1CC19}"/>
              </a:ext>
            </a:extLst>
          </p:cNvPr>
          <p:cNvSpPr/>
          <p:nvPr/>
        </p:nvSpPr>
        <p:spPr>
          <a:xfrm>
            <a:off x="989577" y="1844304"/>
            <a:ext cx="2097405" cy="23495"/>
          </a:xfrm>
          <a:custGeom>
            <a:avLst/>
            <a:gdLst/>
            <a:ahLst/>
            <a:cxnLst/>
            <a:rect l="l" t="t" r="r" b="b"/>
            <a:pathLst>
              <a:path w="2097405" h="23494">
                <a:moveTo>
                  <a:pt x="0" y="23283"/>
                </a:moveTo>
                <a:lnTo>
                  <a:pt x="2096916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C842056-E546-E567-428E-D7A672C5B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3" t="6699" r="2673" b="6250"/>
          <a:stretch>
            <a:fillRect/>
          </a:stretch>
        </p:blipFill>
        <p:spPr>
          <a:xfrm>
            <a:off x="334290" y="2781300"/>
            <a:ext cx="17619419" cy="584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03947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532" y="5232540"/>
            <a:ext cx="133350" cy="1333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89577" y="1844304"/>
            <a:ext cx="2097405" cy="23495"/>
          </a:xfrm>
          <a:custGeom>
            <a:avLst/>
            <a:gdLst/>
            <a:ahLst/>
            <a:cxnLst/>
            <a:rect l="l" t="t" r="r" b="b"/>
            <a:pathLst>
              <a:path w="2097405" h="23494">
                <a:moveTo>
                  <a:pt x="0" y="23283"/>
                </a:moveTo>
                <a:lnTo>
                  <a:pt x="2096916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3066" y="2240617"/>
            <a:ext cx="95230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String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rebuchet MS"/>
                <a:cs typeface="Trebuchet MS"/>
              </a:rPr>
              <a:t>type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Trebuchet MS"/>
                <a:cs typeface="Trebuchet MS"/>
              </a:rPr>
              <a:t>stores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sequence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characters.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3979685"/>
            <a:ext cx="4409440" cy="249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93140" algn="r">
              <a:lnSpc>
                <a:spcPct val="100000"/>
              </a:lnSpc>
              <a:spcBef>
                <a:spcPts val="100"/>
              </a:spcBef>
            </a:pPr>
            <a:r>
              <a:rPr sz="3600" i="1" spc="-80" dirty="0">
                <a:solidFill>
                  <a:srgbClr val="3BE2EC"/>
                </a:solidFill>
                <a:latin typeface="Arial"/>
                <a:cs typeface="Arial"/>
              </a:rPr>
              <a:t>Basic</a:t>
            </a:r>
            <a:r>
              <a:rPr sz="3600" i="1" spc="-160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600" i="1" spc="-10" dirty="0">
                <a:solidFill>
                  <a:srgbClr val="3BE2EC"/>
                </a:solidFill>
                <a:latin typeface="Arial"/>
                <a:cs typeface="Arial"/>
              </a:rPr>
              <a:t>Operations</a:t>
            </a:r>
            <a:endParaRPr sz="3600">
              <a:latin typeface="Arial"/>
              <a:cs typeface="Arial"/>
            </a:endParaRPr>
          </a:p>
          <a:p>
            <a:pPr marR="1052195" algn="r">
              <a:lnSpc>
                <a:spcPct val="100000"/>
              </a:lnSpc>
              <a:spcBef>
                <a:spcPts val="3419"/>
              </a:spcBef>
            </a:pPr>
            <a:r>
              <a:rPr sz="3600" b="1" spc="-55" dirty="0">
                <a:solidFill>
                  <a:srgbClr val="FFFFFF"/>
                </a:solidFill>
                <a:latin typeface="Arial"/>
                <a:cs typeface="Arial"/>
              </a:rPr>
              <a:t>concatenation</a:t>
            </a:r>
            <a:endParaRPr sz="3600">
              <a:latin typeface="Arial"/>
              <a:cs typeface="Arial"/>
            </a:endParaRPr>
          </a:p>
          <a:p>
            <a:pPr marL="1009015" algn="ctr">
              <a:lnSpc>
                <a:spcPct val="100000"/>
              </a:lnSpc>
              <a:spcBef>
                <a:spcPts val="3045"/>
              </a:spcBef>
            </a:pPr>
            <a:r>
              <a:rPr sz="3600" spc="85" dirty="0">
                <a:solidFill>
                  <a:srgbClr val="FFFFFF"/>
                </a:solidFill>
                <a:latin typeface="Arial MT"/>
                <a:cs typeface="Arial MT"/>
              </a:rPr>
              <a:t>“hello”</a:t>
            </a:r>
            <a:r>
              <a:rPr sz="3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0" dirty="0">
                <a:solidFill>
                  <a:srgbClr val="FFFFFF"/>
                </a:solidFill>
                <a:latin typeface="Arial MT"/>
                <a:cs typeface="Arial MT"/>
              </a:rPr>
              <a:t>“world”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87097" y="5878970"/>
            <a:ext cx="2488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50" dirty="0">
                <a:solidFill>
                  <a:srgbClr val="FFFFFF"/>
                </a:solidFill>
                <a:latin typeface="Arial MT"/>
                <a:cs typeface="Arial MT"/>
              </a:rPr>
              <a:t>“helloworld”</a:t>
            </a:r>
            <a:endParaRPr sz="3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97879" y="6148845"/>
            <a:ext cx="1067435" cy="152400"/>
            <a:chOff x="5897879" y="6148845"/>
            <a:chExt cx="1067435" cy="152400"/>
          </a:xfrm>
        </p:grpSpPr>
        <p:sp>
          <p:nvSpPr>
            <p:cNvPr id="9" name="object 9"/>
            <p:cNvSpPr/>
            <p:nvPr/>
          </p:nvSpPr>
          <p:spPr>
            <a:xfrm>
              <a:off x="5897879" y="6225045"/>
              <a:ext cx="1048385" cy="0"/>
            </a:xfrm>
            <a:custGeom>
              <a:avLst/>
              <a:gdLst/>
              <a:ahLst/>
              <a:cxnLst/>
              <a:rect l="l" t="t" r="r" b="b"/>
              <a:pathLst>
                <a:path w="1048384">
                  <a:moveTo>
                    <a:pt x="0" y="0"/>
                  </a:moveTo>
                  <a:lnTo>
                    <a:pt x="1048082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69762" y="616789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199" y="57149"/>
                  </a:lnTo>
                  <a:lnTo>
                    <a:pt x="0" y="114299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8532" y="7441795"/>
            <a:ext cx="133350" cy="1333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55338" y="7171920"/>
            <a:ext cx="2493010" cy="155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35" dirty="0">
                <a:solidFill>
                  <a:srgbClr val="FFFFFF"/>
                </a:solidFill>
                <a:latin typeface="Arial"/>
                <a:cs typeface="Arial"/>
              </a:rPr>
              <a:t>length</a:t>
            </a:r>
            <a:r>
              <a:rPr sz="36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1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36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Arial"/>
                <a:cs typeface="Arial"/>
              </a:rPr>
              <a:t>str</a:t>
            </a:r>
            <a:endParaRPr sz="3600" dirty="0">
              <a:latin typeface="Arial"/>
              <a:cs typeface="Arial"/>
            </a:endParaRPr>
          </a:p>
          <a:p>
            <a:pPr marL="745490">
              <a:lnSpc>
                <a:spcPct val="100000"/>
              </a:lnSpc>
              <a:spcBef>
                <a:spcPts val="3419"/>
              </a:spcBef>
            </a:pP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len(str)</a:t>
            </a:r>
            <a:endParaRPr sz="36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89D1E-049A-1FE9-02E9-F88C9E07C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594B30-6D01-74C0-CCB6-35EA2F20FE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5A8E114-DF74-C16D-E814-9DDB37FFF3F9}"/>
              </a:ext>
            </a:extLst>
          </p:cNvPr>
          <p:cNvSpPr/>
          <p:nvPr/>
        </p:nvSpPr>
        <p:spPr>
          <a:xfrm>
            <a:off x="989577" y="1844304"/>
            <a:ext cx="2097405" cy="23495"/>
          </a:xfrm>
          <a:custGeom>
            <a:avLst/>
            <a:gdLst/>
            <a:ahLst/>
            <a:cxnLst/>
            <a:rect l="l" t="t" r="r" b="b"/>
            <a:pathLst>
              <a:path w="2097405" h="23494">
                <a:moveTo>
                  <a:pt x="0" y="23283"/>
                </a:moveTo>
                <a:lnTo>
                  <a:pt x="2096916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B5AAC27-B9EE-D8CB-E193-C04A3F718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4" t="9856" r="6471" b="9856"/>
          <a:stretch>
            <a:fillRect/>
          </a:stretch>
        </p:blipFill>
        <p:spPr>
          <a:xfrm>
            <a:off x="4495800" y="1303019"/>
            <a:ext cx="11734800" cy="876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43884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Indexing</a:t>
            </a:r>
          </a:p>
        </p:txBody>
      </p:sp>
      <p:sp>
        <p:nvSpPr>
          <p:cNvPr id="3" name="object 3"/>
          <p:cNvSpPr/>
          <p:nvPr/>
        </p:nvSpPr>
        <p:spPr>
          <a:xfrm>
            <a:off x="989578" y="1844263"/>
            <a:ext cx="2484755" cy="23495"/>
          </a:xfrm>
          <a:custGeom>
            <a:avLst/>
            <a:gdLst/>
            <a:ahLst/>
            <a:cxnLst/>
            <a:rect l="l" t="t" r="r" b="b"/>
            <a:pathLst>
              <a:path w="2484754" h="23494">
                <a:moveTo>
                  <a:pt x="0" y="23364"/>
                </a:moveTo>
                <a:lnTo>
                  <a:pt x="248471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16000" y="2501954"/>
            <a:ext cx="8432800" cy="7071936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lang="en-US" sz="6000" spc="-254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lang="en-US" sz="6000" spc="-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6000" spc="-33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lang="en-US" sz="6000" spc="-275" dirty="0">
                <a:solidFill>
                  <a:srgbClr val="FFFFFF"/>
                </a:solidFill>
                <a:latin typeface="Trebuchet MS"/>
                <a:cs typeface="Trebuchet MS"/>
              </a:rPr>
              <a:t> s h</a:t>
            </a:r>
            <a:r>
              <a:rPr lang="en-US" sz="6000" spc="-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6000" spc="-154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r>
              <a:rPr lang="en-US" sz="6000" spc="-275" dirty="0">
                <a:solidFill>
                  <a:srgbClr val="FFFFFF"/>
                </a:solidFill>
                <a:latin typeface="Trebuchet MS"/>
                <a:cs typeface="Trebuchet MS"/>
              </a:rPr>
              <a:t>  l _S h r e s t h a</a:t>
            </a:r>
            <a:endParaRPr sz="6000" dirty="0">
              <a:latin typeface="Trebuchet MS"/>
              <a:cs typeface="Trebuchet MS"/>
            </a:endParaRPr>
          </a:p>
          <a:p>
            <a:pPr marL="113030">
              <a:lnSpc>
                <a:spcPct val="100000"/>
              </a:lnSpc>
              <a:spcBef>
                <a:spcPts val="670"/>
              </a:spcBef>
              <a:tabLst>
                <a:tab pos="701675" algn="l"/>
                <a:tab pos="1288415" algn="l"/>
                <a:tab pos="1877060" algn="l"/>
                <a:tab pos="2373630" algn="l"/>
                <a:tab pos="2870200" algn="l"/>
                <a:tab pos="3458210" algn="l"/>
                <a:tab pos="3951604" algn="l"/>
                <a:tab pos="4362450" algn="l"/>
                <a:tab pos="4833620" algn="l"/>
                <a:tab pos="5320030" algn="l"/>
                <a:tab pos="6002020" algn="l"/>
              </a:tabLst>
            </a:pP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0</a:t>
            </a:r>
            <a:r>
              <a:rPr lang="en-US" sz="3200" spc="-50" dirty="0">
                <a:solidFill>
                  <a:srgbClr val="3BE2EC"/>
                </a:solidFill>
                <a:latin typeface="Arial MT"/>
                <a:cs typeface="Arial MT"/>
              </a:rPr>
              <a:t>  </a:t>
            </a:r>
            <a:r>
              <a:rPr sz="3200" spc="-60" dirty="0">
                <a:solidFill>
                  <a:srgbClr val="3BE2EC"/>
                </a:solidFill>
                <a:latin typeface="Arial MT"/>
                <a:cs typeface="Arial MT"/>
              </a:rPr>
              <a:t>1</a:t>
            </a:r>
            <a:r>
              <a:rPr lang="en-US" sz="3200" spc="-60" dirty="0">
                <a:solidFill>
                  <a:srgbClr val="3BE2EC"/>
                </a:solidFill>
                <a:latin typeface="Arial MT"/>
                <a:cs typeface="Arial MT"/>
              </a:rPr>
              <a:t>    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2</a:t>
            </a:r>
            <a:r>
              <a:rPr lang="en-US" sz="3200" spc="-50" dirty="0">
                <a:solidFill>
                  <a:srgbClr val="3BE2EC"/>
                </a:solidFill>
                <a:latin typeface="Arial MT"/>
                <a:cs typeface="Arial MT"/>
              </a:rPr>
              <a:t>   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3</a:t>
            </a:r>
            <a:r>
              <a:rPr lang="en-US" sz="3200" spc="-50" dirty="0">
                <a:solidFill>
                  <a:srgbClr val="3BE2EC"/>
                </a:solidFill>
                <a:latin typeface="Arial MT"/>
                <a:cs typeface="Arial MT"/>
              </a:rPr>
              <a:t>   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4</a:t>
            </a:r>
            <a:r>
              <a:rPr lang="en-US" sz="3200" spc="-50" dirty="0">
                <a:solidFill>
                  <a:srgbClr val="3BE2EC"/>
                </a:solidFill>
                <a:latin typeface="Arial MT"/>
                <a:cs typeface="Arial MT"/>
              </a:rPr>
              <a:t>  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5</a:t>
            </a:r>
            <a:r>
              <a:rPr lang="en-US" sz="3200" spc="-50" dirty="0">
                <a:solidFill>
                  <a:srgbClr val="3BE2EC"/>
                </a:solidFill>
                <a:latin typeface="Arial MT"/>
                <a:cs typeface="Arial MT"/>
              </a:rPr>
              <a:t>  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6</a:t>
            </a:r>
            <a:r>
              <a:rPr sz="3200" dirty="0">
                <a:solidFill>
                  <a:srgbClr val="3BE2EC"/>
                </a:solidFill>
                <a:latin typeface="Arial MT"/>
                <a:cs typeface="Arial MT"/>
              </a:rPr>
              <a:t>	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7</a:t>
            </a:r>
            <a:r>
              <a:rPr lang="en-US" sz="3200" spc="-50" dirty="0">
                <a:solidFill>
                  <a:srgbClr val="3BE2EC"/>
                </a:solidFill>
                <a:latin typeface="Arial MT"/>
                <a:cs typeface="Arial MT"/>
              </a:rPr>
              <a:t>  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8</a:t>
            </a:r>
            <a:r>
              <a:rPr lang="en-US" sz="3200" spc="-50" dirty="0">
                <a:solidFill>
                  <a:srgbClr val="3BE2EC"/>
                </a:solidFill>
                <a:latin typeface="Arial MT"/>
                <a:cs typeface="Arial MT"/>
              </a:rPr>
              <a:t>  </a:t>
            </a:r>
            <a:r>
              <a:rPr lang="en-US" sz="3200" dirty="0">
                <a:solidFill>
                  <a:srgbClr val="3BE2EC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9</a:t>
            </a:r>
            <a:r>
              <a:rPr sz="3200" dirty="0">
                <a:solidFill>
                  <a:srgbClr val="3BE2EC"/>
                </a:solidFill>
                <a:latin typeface="Arial MT"/>
                <a:cs typeface="Arial MT"/>
              </a:rPr>
              <a:t>	</a:t>
            </a:r>
            <a:r>
              <a:rPr sz="3200" spc="-25" dirty="0">
                <a:solidFill>
                  <a:srgbClr val="3BE2EC"/>
                </a:solidFill>
                <a:latin typeface="Arial MT"/>
                <a:cs typeface="Arial MT"/>
              </a:rPr>
              <a:t>10</a:t>
            </a:r>
            <a:r>
              <a:rPr lang="en-US" sz="3200" spc="-25" dirty="0">
                <a:solidFill>
                  <a:srgbClr val="3BE2EC"/>
                </a:solidFill>
                <a:latin typeface="Arial MT"/>
                <a:cs typeface="Arial MT"/>
              </a:rPr>
              <a:t>  </a:t>
            </a:r>
            <a:r>
              <a:rPr sz="3200" spc="-25" dirty="0">
                <a:solidFill>
                  <a:srgbClr val="3BE2EC"/>
                </a:solidFill>
                <a:latin typeface="Arial MT"/>
                <a:cs typeface="Arial MT"/>
              </a:rPr>
              <a:t>11</a:t>
            </a:r>
            <a:r>
              <a:rPr lang="en-US" sz="3200" spc="-25" dirty="0">
                <a:solidFill>
                  <a:srgbClr val="3BE2EC"/>
                </a:solidFill>
                <a:latin typeface="Arial MT"/>
                <a:cs typeface="Arial MT"/>
              </a:rPr>
              <a:t> 12 13 14 </a:t>
            </a:r>
            <a:endParaRPr sz="3200" dirty="0">
              <a:latin typeface="Arial MT"/>
              <a:cs typeface="Arial MT"/>
            </a:endParaRPr>
          </a:p>
          <a:p>
            <a:pPr marL="67310" marR="1318895" indent="-23495">
              <a:lnSpc>
                <a:spcPct val="235500"/>
              </a:lnSpc>
              <a:spcBef>
                <a:spcPts val="296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str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“</a:t>
            </a:r>
            <a:r>
              <a:rPr lang="en-US" sz="3600" spc="-10" dirty="0" err="1">
                <a:solidFill>
                  <a:srgbClr val="FFFFFF"/>
                </a:solidFill>
                <a:latin typeface="Arial MT"/>
                <a:cs typeface="Arial MT"/>
              </a:rPr>
              <a:t>Sushil_Shrestha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” </a:t>
            </a:r>
            <a:br>
              <a:rPr lang="en-US" sz="3600" spc="-10" dirty="0">
                <a:solidFill>
                  <a:srgbClr val="FFFFFF"/>
                </a:solidFill>
                <a:latin typeface="Arial MT"/>
                <a:cs typeface="Arial MT"/>
              </a:rPr>
            </a:br>
            <a:r>
              <a:rPr sz="3600" spc="50" dirty="0">
                <a:solidFill>
                  <a:srgbClr val="FFFFFF"/>
                </a:solidFill>
                <a:latin typeface="Arial MT"/>
                <a:cs typeface="Arial MT"/>
              </a:rPr>
              <a:t>str[0]</a:t>
            </a:r>
            <a:r>
              <a:rPr sz="36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6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85" dirty="0">
                <a:solidFill>
                  <a:srgbClr val="FFFFFF"/>
                </a:solidFill>
                <a:latin typeface="Arial MT"/>
                <a:cs typeface="Arial MT"/>
              </a:rPr>
              <a:t>‘</a:t>
            </a:r>
            <a:r>
              <a:rPr lang="en-US" sz="3600" spc="85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sz="3600" spc="85" dirty="0">
                <a:solidFill>
                  <a:srgbClr val="FFFFFF"/>
                </a:solidFill>
                <a:latin typeface="Arial MT"/>
                <a:cs typeface="Arial MT"/>
              </a:rPr>
              <a:t>’,</a:t>
            </a:r>
            <a:br>
              <a:rPr lang="en-US" sz="3600" spc="85" dirty="0">
                <a:solidFill>
                  <a:srgbClr val="FFFFFF"/>
                </a:solidFill>
                <a:latin typeface="Arial MT"/>
                <a:cs typeface="Arial MT"/>
              </a:rPr>
            </a:br>
            <a:r>
              <a:rPr sz="36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50" dirty="0">
                <a:solidFill>
                  <a:srgbClr val="FFFFFF"/>
                </a:solidFill>
                <a:latin typeface="Arial MT"/>
                <a:cs typeface="Arial MT"/>
              </a:rPr>
              <a:t>str[1]</a:t>
            </a:r>
            <a:r>
              <a:rPr sz="36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6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‘</a:t>
            </a:r>
            <a:r>
              <a:rPr lang="en-US" sz="3600" spc="105" dirty="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’</a:t>
            </a:r>
            <a:r>
              <a:rPr sz="36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35" dirty="0">
                <a:solidFill>
                  <a:srgbClr val="FFFFFF"/>
                </a:solidFill>
                <a:latin typeface="Arial MT"/>
                <a:cs typeface="Arial MT"/>
              </a:rPr>
              <a:t>...</a:t>
            </a:r>
            <a:br>
              <a:rPr lang="en-US" sz="3600" spc="135" dirty="0">
                <a:solidFill>
                  <a:srgbClr val="FFFFFF"/>
                </a:solidFill>
                <a:latin typeface="Arial MT"/>
                <a:cs typeface="Arial MT"/>
              </a:rPr>
            </a:br>
            <a:r>
              <a:rPr sz="3600" spc="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50" dirty="0">
                <a:solidFill>
                  <a:srgbClr val="FFFFFF"/>
                </a:solidFill>
                <a:latin typeface="Arial MT"/>
                <a:cs typeface="Arial MT"/>
              </a:rPr>
              <a:t>str[0]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‘B’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20" dirty="0">
                <a:solidFill>
                  <a:srgbClr val="32BD15"/>
                </a:solidFill>
                <a:latin typeface="Arial MT"/>
                <a:cs typeface="Arial MT"/>
              </a:rPr>
              <a:t>#not</a:t>
            </a:r>
            <a:r>
              <a:rPr sz="3600" spc="-10" dirty="0">
                <a:solidFill>
                  <a:srgbClr val="32BD15"/>
                </a:solidFill>
                <a:latin typeface="Arial MT"/>
                <a:cs typeface="Arial MT"/>
              </a:rPr>
              <a:t> allowed</a:t>
            </a:r>
            <a:endParaRPr sz="3600" dirty="0">
              <a:latin typeface="Arial MT"/>
              <a:cs typeface="Arial M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2F56E-03C6-9894-A0D2-F23A44E9A2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13" t="14201" r="6732" b="34330"/>
          <a:stretch>
            <a:fillRect/>
          </a:stretch>
        </p:blipFill>
        <p:spPr>
          <a:xfrm>
            <a:off x="8839200" y="6040698"/>
            <a:ext cx="9071350" cy="348869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Slicing</a:t>
            </a:r>
          </a:p>
        </p:txBody>
      </p:sp>
      <p:sp>
        <p:nvSpPr>
          <p:cNvPr id="3" name="object 3"/>
          <p:cNvSpPr/>
          <p:nvPr/>
        </p:nvSpPr>
        <p:spPr>
          <a:xfrm>
            <a:off x="989577" y="1844323"/>
            <a:ext cx="1950720" cy="23495"/>
          </a:xfrm>
          <a:custGeom>
            <a:avLst/>
            <a:gdLst/>
            <a:ahLst/>
            <a:cxnLst/>
            <a:rect l="l" t="t" r="r" b="b"/>
            <a:pathLst>
              <a:path w="1950720" h="23494">
                <a:moveTo>
                  <a:pt x="0" y="23244"/>
                </a:moveTo>
                <a:lnTo>
                  <a:pt x="1950315" y="0"/>
                </a:lnTo>
              </a:path>
            </a:pathLst>
          </a:custGeom>
          <a:ln w="476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3066" y="2240617"/>
            <a:ext cx="12153334" cy="56774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60" dirty="0">
                <a:solidFill>
                  <a:srgbClr val="FFFFFF"/>
                </a:solidFill>
                <a:latin typeface="Trebuchet MS"/>
                <a:cs typeface="Trebuchet MS"/>
              </a:rPr>
              <a:t>Accessing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Trebuchet MS"/>
                <a:cs typeface="Trebuchet MS"/>
              </a:rPr>
              <a:t>parts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string</a:t>
            </a:r>
            <a:endParaRPr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3200" dirty="0">
              <a:latin typeface="Trebuchet MS"/>
              <a:cs typeface="Trebuchet MS"/>
            </a:endParaRPr>
          </a:p>
          <a:p>
            <a:pPr marL="349885">
              <a:lnSpc>
                <a:spcPct val="100000"/>
              </a:lnSpc>
            </a:pPr>
            <a:r>
              <a:rPr sz="3600" spc="50" dirty="0">
                <a:solidFill>
                  <a:srgbClr val="FFFFFF"/>
                </a:solidFill>
                <a:latin typeface="Arial MT"/>
                <a:cs typeface="Arial MT"/>
              </a:rPr>
              <a:t>str[</a:t>
            </a:r>
            <a:r>
              <a:rPr sz="36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starting_idx</a:t>
            </a:r>
            <a:r>
              <a:rPr sz="36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7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6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ending_idx</a:t>
            </a:r>
            <a:r>
              <a:rPr sz="36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10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r>
              <a:rPr sz="36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32BD15"/>
                </a:solidFill>
                <a:latin typeface="Arial MT"/>
                <a:cs typeface="Arial MT"/>
              </a:rPr>
              <a:t>#ending</a:t>
            </a:r>
            <a:r>
              <a:rPr sz="3600" spc="-1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32BD15"/>
                </a:solidFill>
                <a:latin typeface="Arial MT"/>
                <a:cs typeface="Arial MT"/>
              </a:rPr>
              <a:t>idx</a:t>
            </a:r>
            <a:r>
              <a:rPr sz="3600" spc="-114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600" spc="-35" dirty="0">
                <a:solidFill>
                  <a:srgbClr val="32BD15"/>
                </a:solidFill>
                <a:latin typeface="Arial MT"/>
                <a:cs typeface="Arial MT"/>
              </a:rPr>
              <a:t>is</a:t>
            </a:r>
            <a:r>
              <a:rPr sz="3600" spc="-1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32BD15"/>
                </a:solidFill>
                <a:latin typeface="Arial MT"/>
                <a:cs typeface="Arial MT"/>
              </a:rPr>
              <a:t>not</a:t>
            </a:r>
            <a:r>
              <a:rPr sz="3600" spc="-1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32BD15"/>
                </a:solidFill>
                <a:latin typeface="Arial MT"/>
                <a:cs typeface="Arial MT"/>
              </a:rPr>
              <a:t>included</a:t>
            </a:r>
            <a:endParaRPr sz="3600" dirty="0">
              <a:latin typeface="Arial MT"/>
              <a:cs typeface="Arial MT"/>
            </a:endParaRPr>
          </a:p>
          <a:p>
            <a:pPr marL="340360" marR="7855584" indent="9525">
              <a:lnSpc>
                <a:spcPct val="189600"/>
              </a:lnSpc>
              <a:spcBef>
                <a:spcPts val="1875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str</a:t>
            </a:r>
            <a:r>
              <a:rPr sz="3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lang="en-US" sz="3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“</a:t>
            </a:r>
            <a:r>
              <a:rPr lang="en-US" sz="3200" spc="-10" dirty="0" err="1">
                <a:solidFill>
                  <a:srgbClr val="FFFFFF"/>
                </a:solidFill>
                <a:latin typeface="Arial MT"/>
                <a:cs typeface="Arial MT"/>
              </a:rPr>
              <a:t>Sushilshrestha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”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str[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5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is </a:t>
            </a:r>
            <a:r>
              <a:rPr sz="3200" spc="40" dirty="0">
                <a:solidFill>
                  <a:srgbClr val="FFFFFF"/>
                </a:solidFill>
                <a:latin typeface="Arial MT"/>
                <a:cs typeface="Arial MT"/>
              </a:rPr>
              <a:t>“</a:t>
            </a:r>
            <a:r>
              <a:rPr lang="en-US" sz="3200" spc="40" dirty="0">
                <a:solidFill>
                  <a:srgbClr val="FFFFFF"/>
                </a:solidFill>
                <a:latin typeface="Arial MT"/>
                <a:cs typeface="Arial MT"/>
              </a:rPr>
              <a:t>ush</a:t>
            </a:r>
            <a:r>
              <a:rPr sz="3200" spc="40" dirty="0">
                <a:solidFill>
                  <a:srgbClr val="FFFFFF"/>
                </a:solidFill>
                <a:latin typeface="Arial MT"/>
                <a:cs typeface="Arial MT"/>
              </a:rPr>
              <a:t>”</a:t>
            </a:r>
            <a:endParaRPr sz="3200" dirty="0">
              <a:latin typeface="Arial MT"/>
              <a:cs typeface="Arial MT"/>
            </a:endParaRPr>
          </a:p>
          <a:p>
            <a:pPr marL="340360">
              <a:lnSpc>
                <a:spcPct val="100000"/>
              </a:lnSpc>
              <a:spcBef>
                <a:spcPts val="3440"/>
              </a:spcBef>
              <a:tabLst>
                <a:tab pos="1144270" algn="l"/>
              </a:tabLst>
            </a:pP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str[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spc="15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is </a:t>
            </a:r>
            <a:r>
              <a:rPr sz="3200" spc="-160" dirty="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25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str[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5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30" dirty="0">
                <a:solidFill>
                  <a:srgbClr val="FFFFFF"/>
                </a:solidFill>
                <a:latin typeface="Arial MT"/>
                <a:cs typeface="Arial MT"/>
              </a:rPr>
              <a:t>4]</a:t>
            </a:r>
            <a:endParaRPr sz="3200" dirty="0">
              <a:latin typeface="Arial MT"/>
              <a:cs typeface="Arial MT"/>
            </a:endParaRPr>
          </a:p>
          <a:p>
            <a:pPr marL="340360">
              <a:lnSpc>
                <a:spcPct val="100000"/>
              </a:lnSpc>
              <a:spcBef>
                <a:spcPts val="3440"/>
              </a:spcBef>
              <a:tabLst>
                <a:tab pos="172148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str[</a:t>
            </a:r>
            <a:r>
              <a:rPr sz="32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32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60" dirty="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25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str[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5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len(str)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45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6" name="Picture 5" descr="You've Been Cutting Cake Wrong Your Entire Life">
            <a:extLst>
              <a:ext uri="{FF2B5EF4-FFF2-40B4-BE49-F238E27FC236}">
                <a16:creationId xmlns:a16="http://schemas.microsoft.com/office/drawing/2014/main" id="{C40F3289-8D15-A28A-B5C3-885A2563F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4381500"/>
            <a:ext cx="8991600" cy="5059413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CB67-12E0-3CE0-9BEA-321330DB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CE9153-F7D9-2A3D-28E3-52DE7B8C6F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Slicing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3B785C7-BD76-F0D4-0BC3-C5EFB027C5F2}"/>
              </a:ext>
            </a:extLst>
          </p:cNvPr>
          <p:cNvSpPr/>
          <p:nvPr/>
        </p:nvSpPr>
        <p:spPr>
          <a:xfrm>
            <a:off x="989577" y="1844323"/>
            <a:ext cx="1950720" cy="23495"/>
          </a:xfrm>
          <a:custGeom>
            <a:avLst/>
            <a:gdLst/>
            <a:ahLst/>
            <a:cxnLst/>
            <a:rect l="l" t="t" r="r" b="b"/>
            <a:pathLst>
              <a:path w="1950720" h="23494">
                <a:moveTo>
                  <a:pt x="0" y="23244"/>
                </a:moveTo>
                <a:lnTo>
                  <a:pt x="1950315" y="0"/>
                </a:lnTo>
              </a:path>
            </a:pathLst>
          </a:custGeom>
          <a:ln w="476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 descr="String Slicing In Python | Syntax &amp; Usage With Code Examples">
            <a:extLst>
              <a:ext uri="{FF2B5EF4-FFF2-40B4-BE49-F238E27FC236}">
                <a16:creationId xmlns:a16="http://schemas.microsoft.com/office/drawing/2014/main" id="{2F097A86-DCD6-D048-3152-21108D072A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000" b="11000"/>
          <a:stretch>
            <a:fillRect/>
          </a:stretch>
        </p:blipFill>
        <p:spPr>
          <a:xfrm>
            <a:off x="1600200" y="2730591"/>
            <a:ext cx="15321064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7482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5257-456F-7E25-0051-D2A569F98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BDFFC4-05DF-5315-FB3B-E3B1B8F53F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Slicing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AB90EC0-BE42-1E0C-3DF1-103B5B4524B7}"/>
              </a:ext>
            </a:extLst>
          </p:cNvPr>
          <p:cNvSpPr/>
          <p:nvPr/>
        </p:nvSpPr>
        <p:spPr>
          <a:xfrm>
            <a:off x="989577" y="1844323"/>
            <a:ext cx="1950720" cy="23495"/>
          </a:xfrm>
          <a:custGeom>
            <a:avLst/>
            <a:gdLst/>
            <a:ahLst/>
            <a:cxnLst/>
            <a:rect l="l" t="t" r="r" b="b"/>
            <a:pathLst>
              <a:path w="1950720" h="23494">
                <a:moveTo>
                  <a:pt x="0" y="23244"/>
                </a:moveTo>
                <a:lnTo>
                  <a:pt x="1950315" y="0"/>
                </a:lnTo>
              </a:path>
            </a:pathLst>
          </a:custGeom>
          <a:ln w="476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Picture 3" descr="String Slicing in Python - Scientech Easy">
            <a:extLst>
              <a:ext uri="{FF2B5EF4-FFF2-40B4-BE49-F238E27FC236}">
                <a16:creationId xmlns:a16="http://schemas.microsoft.com/office/drawing/2014/main" id="{37E46ED1-17B0-2737-C88C-1EDC895EDE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9" t="23080" r="2176" b="5134"/>
          <a:stretch>
            <a:fillRect/>
          </a:stretch>
        </p:blipFill>
        <p:spPr>
          <a:xfrm>
            <a:off x="1428750" y="2552700"/>
            <a:ext cx="15430499" cy="64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20599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66" y="995044"/>
            <a:ext cx="19723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Slicing</a:t>
            </a:r>
          </a:p>
        </p:txBody>
      </p:sp>
      <p:sp>
        <p:nvSpPr>
          <p:cNvPr id="3" name="object 3"/>
          <p:cNvSpPr/>
          <p:nvPr/>
        </p:nvSpPr>
        <p:spPr>
          <a:xfrm>
            <a:off x="989577" y="1844322"/>
            <a:ext cx="1950720" cy="23495"/>
          </a:xfrm>
          <a:custGeom>
            <a:avLst/>
            <a:gdLst/>
            <a:ahLst/>
            <a:cxnLst/>
            <a:rect l="l" t="t" r="r" b="b"/>
            <a:pathLst>
              <a:path w="1950720" h="23494">
                <a:moveTo>
                  <a:pt x="0" y="23244"/>
                </a:moveTo>
                <a:lnTo>
                  <a:pt x="1950315" y="0"/>
                </a:lnTo>
              </a:path>
            </a:pathLst>
          </a:custGeom>
          <a:ln w="476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79124" y="1830751"/>
            <a:ext cx="3454400" cy="5141595"/>
          </a:xfrm>
          <a:prstGeom prst="rect">
            <a:avLst/>
          </a:prstGeom>
        </p:spPr>
        <p:txBody>
          <a:bodyPr vert="horz" wrap="square" lIns="0" tIns="2927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2305"/>
              </a:spcBef>
            </a:pPr>
            <a:r>
              <a:rPr sz="3600" i="1" spc="-35" dirty="0">
                <a:solidFill>
                  <a:srgbClr val="3BE2EC"/>
                </a:solidFill>
                <a:latin typeface="Arial"/>
                <a:cs typeface="Arial"/>
              </a:rPr>
              <a:t>Negative</a:t>
            </a:r>
            <a:r>
              <a:rPr sz="3600" i="1" spc="-180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600" i="1" spc="-10" dirty="0">
                <a:solidFill>
                  <a:srgbClr val="3BE2EC"/>
                </a:solidFill>
                <a:latin typeface="Arial"/>
                <a:cs typeface="Arial"/>
              </a:rPr>
              <a:t>Index</a:t>
            </a:r>
            <a:endParaRPr sz="3600" dirty="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3675"/>
              </a:spcBef>
            </a:pPr>
            <a:r>
              <a:rPr sz="60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6000" spc="4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0" spc="-33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6000" spc="4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0" spc="-33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6000" spc="4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6000" spc="4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0" spc="-52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endParaRPr sz="6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640715" algn="l"/>
                <a:tab pos="1288415" algn="l"/>
                <a:tab pos="1935480" algn="l"/>
                <a:tab pos="2567305" algn="l"/>
              </a:tabLst>
            </a:pPr>
            <a:r>
              <a:rPr sz="3200" spc="225" dirty="0">
                <a:solidFill>
                  <a:srgbClr val="3BE2EC"/>
                </a:solidFill>
                <a:latin typeface="Arial MT"/>
                <a:cs typeface="Arial MT"/>
              </a:rPr>
              <a:t>-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5</a:t>
            </a:r>
            <a:r>
              <a:rPr sz="3200" dirty="0">
                <a:solidFill>
                  <a:srgbClr val="3BE2EC"/>
                </a:solidFill>
                <a:latin typeface="Arial MT"/>
                <a:cs typeface="Arial MT"/>
              </a:rPr>
              <a:t>	</a:t>
            </a:r>
            <a:r>
              <a:rPr sz="3200" spc="225" dirty="0">
                <a:solidFill>
                  <a:srgbClr val="3BE2EC"/>
                </a:solidFill>
                <a:latin typeface="Arial MT"/>
                <a:cs typeface="Arial MT"/>
              </a:rPr>
              <a:t>-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4</a:t>
            </a:r>
            <a:r>
              <a:rPr sz="3200" dirty="0">
                <a:solidFill>
                  <a:srgbClr val="3BE2EC"/>
                </a:solidFill>
                <a:latin typeface="Arial MT"/>
                <a:cs typeface="Arial MT"/>
              </a:rPr>
              <a:t>	</a:t>
            </a:r>
            <a:r>
              <a:rPr sz="3200" spc="225" dirty="0">
                <a:solidFill>
                  <a:srgbClr val="3BE2EC"/>
                </a:solidFill>
                <a:latin typeface="Arial MT"/>
                <a:cs typeface="Arial MT"/>
              </a:rPr>
              <a:t>-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3</a:t>
            </a:r>
            <a:r>
              <a:rPr sz="3200" dirty="0">
                <a:solidFill>
                  <a:srgbClr val="3BE2EC"/>
                </a:solidFill>
                <a:latin typeface="Arial MT"/>
                <a:cs typeface="Arial MT"/>
              </a:rPr>
              <a:t>	</a:t>
            </a:r>
            <a:r>
              <a:rPr sz="4800" spc="337" baseline="1736" dirty="0">
                <a:solidFill>
                  <a:srgbClr val="3BE2EC"/>
                </a:solidFill>
                <a:latin typeface="Arial MT"/>
                <a:cs typeface="Arial MT"/>
              </a:rPr>
              <a:t>-</a:t>
            </a:r>
            <a:r>
              <a:rPr sz="4800" spc="-75" baseline="1736" dirty="0">
                <a:solidFill>
                  <a:srgbClr val="3BE2EC"/>
                </a:solidFill>
                <a:latin typeface="Arial MT"/>
                <a:cs typeface="Arial MT"/>
              </a:rPr>
              <a:t>2</a:t>
            </a:r>
            <a:r>
              <a:rPr sz="4800" baseline="1736" dirty="0">
                <a:solidFill>
                  <a:srgbClr val="3BE2EC"/>
                </a:solidFill>
                <a:latin typeface="Arial MT"/>
                <a:cs typeface="Arial MT"/>
              </a:rPr>
              <a:t>	</a:t>
            </a:r>
            <a:r>
              <a:rPr sz="3200" spc="225" dirty="0">
                <a:solidFill>
                  <a:srgbClr val="3BE2EC"/>
                </a:solidFill>
                <a:latin typeface="Arial MT"/>
                <a:cs typeface="Arial MT"/>
              </a:rPr>
              <a:t>-</a:t>
            </a:r>
            <a:r>
              <a:rPr sz="3200" spc="-50" dirty="0">
                <a:solidFill>
                  <a:srgbClr val="3BE2EC"/>
                </a:solidFill>
                <a:latin typeface="Arial MT"/>
                <a:cs typeface="Arial MT"/>
              </a:rPr>
              <a:t>1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3200" dirty="0">
              <a:latin typeface="Arial MT"/>
              <a:cs typeface="Arial MT"/>
            </a:endParaRPr>
          </a:p>
          <a:p>
            <a:pPr marL="21971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str</a:t>
            </a:r>
            <a:r>
              <a:rPr sz="3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35" dirty="0">
                <a:solidFill>
                  <a:srgbClr val="FFFFFF"/>
                </a:solidFill>
                <a:latin typeface="Arial MT"/>
                <a:cs typeface="Arial MT"/>
              </a:rPr>
              <a:t>“Apple”</a:t>
            </a:r>
            <a:endParaRPr sz="3200" dirty="0">
              <a:latin typeface="Arial MT"/>
              <a:cs typeface="Arial MT"/>
            </a:endParaRPr>
          </a:p>
          <a:p>
            <a:pPr marL="219710">
              <a:lnSpc>
                <a:spcPct val="100000"/>
              </a:lnSpc>
              <a:spcBef>
                <a:spcPts val="3440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str[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2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5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2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is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35" dirty="0">
                <a:solidFill>
                  <a:srgbClr val="FFFFFF"/>
                </a:solidFill>
                <a:latin typeface="Arial MT"/>
                <a:cs typeface="Arial MT"/>
              </a:rPr>
              <a:t>“pl”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5" name="Picture 4" descr="What is negative indexing in Python?">
            <a:extLst>
              <a:ext uri="{FF2B5EF4-FFF2-40B4-BE49-F238E27FC236}">
                <a16:creationId xmlns:a16="http://schemas.microsoft.com/office/drawing/2014/main" id="{176EF4E7-8AEE-0486-4D31-1C0B8CD85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742" y="2705100"/>
            <a:ext cx="9568134" cy="514159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C4DBA-ADE0-96AE-A34B-4073B22B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A980B5-43CA-9EF2-C9B7-45CE293C68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66" y="995044"/>
            <a:ext cx="19723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Slicing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8CC2E01-CFFC-89F5-E4A5-FE220A22E112}"/>
              </a:ext>
            </a:extLst>
          </p:cNvPr>
          <p:cNvSpPr/>
          <p:nvPr/>
        </p:nvSpPr>
        <p:spPr>
          <a:xfrm>
            <a:off x="989577" y="1844322"/>
            <a:ext cx="1950720" cy="23495"/>
          </a:xfrm>
          <a:custGeom>
            <a:avLst/>
            <a:gdLst/>
            <a:ahLst/>
            <a:cxnLst/>
            <a:rect l="l" t="t" r="r" b="b"/>
            <a:pathLst>
              <a:path w="1950720" h="23494">
                <a:moveTo>
                  <a:pt x="0" y="23244"/>
                </a:moveTo>
                <a:lnTo>
                  <a:pt x="1950315" y="0"/>
                </a:lnTo>
              </a:path>
            </a:pathLst>
          </a:custGeom>
          <a:ln w="476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 descr="Negative Indexing in Python: A Step-by-Step Guide (Examples)">
            <a:extLst>
              <a:ext uri="{FF2B5EF4-FFF2-40B4-BE49-F238E27FC236}">
                <a16:creationId xmlns:a16="http://schemas.microsoft.com/office/drawing/2014/main" id="{7EC16791-1F90-027B-433C-FFD60751B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386" y="2476500"/>
            <a:ext cx="15245227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09334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F54E-31DB-8582-8C14-C9E55523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600E78-2F27-C5AB-4BE0-E43F458EAD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66" y="995044"/>
            <a:ext cx="19723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Slicing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179B77C-8BE0-4A9F-F16D-25A2E8D1DC37}"/>
              </a:ext>
            </a:extLst>
          </p:cNvPr>
          <p:cNvSpPr/>
          <p:nvPr/>
        </p:nvSpPr>
        <p:spPr>
          <a:xfrm>
            <a:off x="989577" y="1844322"/>
            <a:ext cx="1950720" cy="23495"/>
          </a:xfrm>
          <a:custGeom>
            <a:avLst/>
            <a:gdLst/>
            <a:ahLst/>
            <a:cxnLst/>
            <a:rect l="l" t="t" r="r" b="b"/>
            <a:pathLst>
              <a:path w="1950720" h="23494">
                <a:moveTo>
                  <a:pt x="0" y="23244"/>
                </a:moveTo>
                <a:lnTo>
                  <a:pt x="1950315" y="0"/>
                </a:lnTo>
              </a:path>
            </a:pathLst>
          </a:custGeom>
          <a:ln w="476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0A332-AEF3-84C2-EB8B-03CC9F695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15" y="2247900"/>
            <a:ext cx="8018585" cy="5486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B99A8C-D394-1FF7-7DD2-2397C23A4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2242457"/>
            <a:ext cx="766006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1340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2FC53-B448-2ED6-8604-B01EE63C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3FEB04-9660-AD80-10B2-AF32EFD5EB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66" y="995044"/>
            <a:ext cx="19723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Slicing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D25F02A-5F9D-609E-024A-ABBDA5C3A1C3}"/>
              </a:ext>
            </a:extLst>
          </p:cNvPr>
          <p:cNvSpPr/>
          <p:nvPr/>
        </p:nvSpPr>
        <p:spPr>
          <a:xfrm>
            <a:off x="989577" y="1844322"/>
            <a:ext cx="1950720" cy="23495"/>
          </a:xfrm>
          <a:custGeom>
            <a:avLst/>
            <a:gdLst/>
            <a:ahLst/>
            <a:cxnLst/>
            <a:rect l="l" t="t" r="r" b="b"/>
            <a:pathLst>
              <a:path w="1950720" h="23494">
                <a:moveTo>
                  <a:pt x="0" y="23244"/>
                </a:moveTo>
                <a:lnTo>
                  <a:pt x="1950315" y="0"/>
                </a:lnTo>
              </a:path>
            </a:pathLst>
          </a:custGeom>
          <a:ln w="476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5EE18B-19E7-B7DB-DAB2-9CD9A150F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56203"/>
            <a:ext cx="10359100" cy="6086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813EF2-9A8F-7541-297C-88BA099CB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0" y="2361646"/>
            <a:ext cx="6237177" cy="308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1156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String</a:t>
            </a:r>
            <a:r>
              <a:rPr spc="-250" dirty="0">
                <a:solidFill>
                  <a:srgbClr val="FFFFFF"/>
                </a:solidFill>
              </a:rPr>
              <a:t> </a:t>
            </a:r>
            <a:r>
              <a:rPr spc="-110" dirty="0"/>
              <a:t>Functions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57"/>
            <a:ext cx="4781550" cy="24130"/>
          </a:xfrm>
          <a:custGeom>
            <a:avLst/>
            <a:gdLst/>
            <a:ahLst/>
            <a:cxnLst/>
            <a:rect l="l" t="t" r="r" b="b"/>
            <a:pathLst>
              <a:path w="4781550" h="24130">
                <a:moveTo>
                  <a:pt x="0" y="23577"/>
                </a:moveTo>
                <a:lnTo>
                  <a:pt x="4781034" y="0"/>
                </a:lnTo>
              </a:path>
            </a:pathLst>
          </a:custGeom>
          <a:ln w="476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16000" y="2498396"/>
            <a:ext cx="406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str</a:t>
            </a:r>
            <a:r>
              <a:rPr sz="36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6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65" dirty="0">
                <a:solidFill>
                  <a:srgbClr val="FFFFFF"/>
                </a:solidFill>
                <a:latin typeface="Arial MT"/>
                <a:cs typeface="Arial MT"/>
              </a:rPr>
              <a:t>“I</a:t>
            </a:r>
            <a:r>
              <a:rPr sz="36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5" dirty="0">
                <a:solidFill>
                  <a:srgbClr val="FFFFFF"/>
                </a:solidFill>
                <a:latin typeface="Arial MT"/>
                <a:cs typeface="Arial MT"/>
              </a:rPr>
              <a:t>am</a:t>
            </a:r>
            <a:r>
              <a:rPr sz="36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coder.”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3714176"/>
            <a:ext cx="11370945" cy="5135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22675" algn="l"/>
              </a:tabLst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str.</a:t>
            </a:r>
            <a:r>
              <a:rPr sz="3200" b="1" spc="-10" dirty="0">
                <a:solidFill>
                  <a:srgbClr val="3BE2EC"/>
                </a:solidFill>
                <a:latin typeface="Arial"/>
                <a:cs typeface="Arial"/>
              </a:rPr>
              <a:t>endsWith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(“er.“)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#returns</a:t>
            </a:r>
            <a:r>
              <a:rPr sz="3200" spc="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true</a:t>
            </a:r>
            <a:r>
              <a:rPr sz="3200" spc="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105" dirty="0">
                <a:solidFill>
                  <a:srgbClr val="32BD15"/>
                </a:solidFill>
                <a:latin typeface="Arial MT"/>
                <a:cs typeface="Arial MT"/>
              </a:rPr>
              <a:t>if</a:t>
            </a:r>
            <a:r>
              <a:rPr sz="3200" spc="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string</a:t>
            </a:r>
            <a:r>
              <a:rPr sz="3200" spc="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5" dirty="0">
                <a:solidFill>
                  <a:srgbClr val="32BD15"/>
                </a:solidFill>
                <a:latin typeface="Arial MT"/>
                <a:cs typeface="Arial MT"/>
              </a:rPr>
              <a:t>ends</a:t>
            </a:r>
            <a:r>
              <a:rPr sz="3200" spc="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with</a:t>
            </a:r>
            <a:r>
              <a:rPr sz="3200" spc="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substr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3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889250" algn="l"/>
              </a:tabLst>
            </a:pP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str.</a:t>
            </a:r>
            <a:r>
              <a:rPr sz="3200" b="1" spc="-50" dirty="0">
                <a:solidFill>
                  <a:srgbClr val="3BE2EC"/>
                </a:solidFill>
                <a:latin typeface="Arial"/>
                <a:cs typeface="Arial"/>
              </a:rPr>
              <a:t>capitalize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32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#capitalizes</a:t>
            </a:r>
            <a:r>
              <a:rPr sz="3200" spc="-1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1st</a:t>
            </a:r>
            <a:r>
              <a:rPr sz="3200" spc="-12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char</a:t>
            </a:r>
            <a:endParaRPr sz="3200" dirty="0">
              <a:latin typeface="Arial MT"/>
              <a:cs typeface="Arial MT"/>
            </a:endParaRPr>
          </a:p>
          <a:p>
            <a:pPr marL="12700" marR="5080">
              <a:lnSpc>
                <a:spcPct val="234500"/>
              </a:lnSpc>
              <a:spcBef>
                <a:spcPts val="525"/>
              </a:spcBef>
              <a:tabLst>
                <a:tab pos="2834640" algn="l"/>
                <a:tab pos="2963545" algn="l"/>
                <a:tab pos="4074160" algn="l"/>
              </a:tabLst>
            </a:pP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str.</a:t>
            </a:r>
            <a:r>
              <a:rPr sz="3200" b="1" spc="-60" dirty="0">
                <a:solidFill>
                  <a:srgbClr val="3BE2EC"/>
                </a:solidFill>
                <a:latin typeface="Arial"/>
                <a:cs typeface="Arial"/>
              </a:rPr>
              <a:t>replace</a:t>
            </a:r>
            <a:r>
              <a:rPr sz="3200" b="1" spc="-6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old,</a:t>
            </a:r>
            <a:r>
              <a:rPr sz="3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14" dirty="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sz="32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#replaces</a:t>
            </a:r>
            <a:r>
              <a:rPr sz="3200" spc="-6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all</a:t>
            </a:r>
            <a:r>
              <a:rPr sz="3200" spc="-6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32BD15"/>
                </a:solidFill>
                <a:latin typeface="Arial MT"/>
                <a:cs typeface="Arial MT"/>
              </a:rPr>
              <a:t>occurrences</a:t>
            </a:r>
            <a:r>
              <a:rPr sz="3200" spc="-6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32BD15"/>
                </a:solidFill>
                <a:latin typeface="Arial MT"/>
                <a:cs typeface="Arial MT"/>
              </a:rPr>
              <a:t>of</a:t>
            </a:r>
            <a:r>
              <a:rPr sz="3200" spc="-6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old</a:t>
            </a:r>
            <a:r>
              <a:rPr sz="3200" spc="-6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with</a:t>
            </a:r>
            <a:r>
              <a:rPr sz="3200" spc="-6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new 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str.</a:t>
            </a:r>
            <a:r>
              <a:rPr sz="3200" b="1" spc="-30" dirty="0">
                <a:solidFill>
                  <a:srgbClr val="3BE2EC"/>
                </a:solidFill>
                <a:latin typeface="Arial"/>
                <a:cs typeface="Arial"/>
              </a:rPr>
              <a:t>find</a:t>
            </a:r>
            <a:r>
              <a:rPr sz="3200" b="1" spc="-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word</a:t>
            </a:r>
            <a:r>
              <a:rPr sz="32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#returns</a:t>
            </a:r>
            <a:r>
              <a:rPr sz="3200" spc="-4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1st</a:t>
            </a:r>
            <a:r>
              <a:rPr sz="3200" spc="-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55" dirty="0">
                <a:solidFill>
                  <a:srgbClr val="32BD15"/>
                </a:solidFill>
                <a:latin typeface="Arial MT"/>
                <a:cs typeface="Arial MT"/>
              </a:rPr>
              <a:t>index</a:t>
            </a:r>
            <a:r>
              <a:rPr sz="3200" spc="-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32BD15"/>
                </a:solidFill>
                <a:latin typeface="Arial MT"/>
                <a:cs typeface="Arial MT"/>
              </a:rPr>
              <a:t>of</a:t>
            </a:r>
            <a:r>
              <a:rPr sz="3200" spc="-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1st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occurrence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str.</a:t>
            </a:r>
            <a:r>
              <a:rPr sz="3200" b="1" spc="-10" dirty="0">
                <a:solidFill>
                  <a:srgbClr val="3BE2EC"/>
                </a:solidFill>
                <a:latin typeface="Arial"/>
                <a:cs typeface="Arial"/>
              </a:rPr>
              <a:t>count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(“am“)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#counts</a:t>
            </a:r>
            <a:r>
              <a:rPr sz="3200" spc="-9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the</a:t>
            </a:r>
            <a:r>
              <a:rPr sz="3200" spc="-8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occurrence</a:t>
            </a:r>
            <a:r>
              <a:rPr sz="3200" spc="-8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32BD15"/>
                </a:solidFill>
                <a:latin typeface="Arial MT"/>
                <a:cs typeface="Arial MT"/>
              </a:rPr>
              <a:t>of</a:t>
            </a:r>
            <a:r>
              <a:rPr sz="3200" spc="-8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substr</a:t>
            </a:r>
            <a:r>
              <a:rPr sz="3200" spc="-9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in</a:t>
            </a:r>
            <a:r>
              <a:rPr sz="3200" spc="-8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string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2369-2B5B-E5D1-A473-473F1952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F74175-6F7D-0547-C0BE-CD6AA03B77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E6F89B-ED66-9AD4-BA75-FF683DFC2F32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594C288-8EC4-D8B3-FC82-F49E00A00F7A}"/>
              </a:ext>
            </a:extLst>
          </p:cNvPr>
          <p:cNvSpPr txBox="1"/>
          <p:nvPr/>
        </p:nvSpPr>
        <p:spPr>
          <a:xfrm>
            <a:off x="952912" y="2023539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WAP to input a DNA sequence and print its length.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ECC25A-ECE2-5553-39C0-BE04049EC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25" y="3086100"/>
            <a:ext cx="15553491" cy="643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92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64894-E77D-CBCE-F396-D8F57D80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FA3D34-D3D1-A507-642A-50903852B6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215205-BC7E-175C-E377-E123D0AC4D8B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D92BAC4-F674-0FF4-F168-1F0DECEF1FD6}"/>
              </a:ext>
            </a:extLst>
          </p:cNvPr>
          <p:cNvSpPr txBox="1"/>
          <p:nvPr/>
        </p:nvSpPr>
        <p:spPr>
          <a:xfrm>
            <a:off x="952912" y="2023539"/>
            <a:ext cx="13525088" cy="32034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solidFill>
                  <a:schemeClr val="bg1"/>
                </a:solidFill>
              </a:rPr>
              <a:t>WAP to Input a Gene Name and Find Its Length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3200" dirty="0">
              <a:solidFill>
                <a:schemeClr val="bg1"/>
              </a:solidFill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i="1" dirty="0">
                <a:solidFill>
                  <a:schemeClr val="bg1"/>
                </a:solidFill>
              </a:rPr>
              <a:t># Example Output</a:t>
            </a:r>
            <a:br>
              <a:rPr lang="en-US" sz="2800" i="1" dirty="0">
                <a:solidFill>
                  <a:schemeClr val="bg1"/>
                </a:solidFill>
              </a:rPr>
            </a:br>
            <a:r>
              <a:rPr lang="en-US" sz="2800" i="1" dirty="0">
                <a:solidFill>
                  <a:schemeClr val="bg1"/>
                </a:solidFill>
              </a:rPr>
              <a:t>Enter gene name: BRCA1</a:t>
            </a:r>
            <a:br>
              <a:rPr lang="en-US" sz="2800" i="1" dirty="0">
                <a:solidFill>
                  <a:schemeClr val="bg1"/>
                </a:solidFill>
              </a:rPr>
            </a:br>
            <a:r>
              <a:rPr lang="en-US" sz="2800" i="1" dirty="0">
                <a:solidFill>
                  <a:schemeClr val="bg1"/>
                </a:solidFill>
              </a:rPr>
              <a:t>Length of gene name = 5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800" i="1" dirty="0">
              <a:solidFill>
                <a:schemeClr val="bg1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solidFill>
                  <a:schemeClr val="bg1"/>
                </a:solidFill>
              </a:rPr>
              <a:t>Concept:</a:t>
            </a:r>
            <a:r>
              <a:rPr lang="en-US" sz="2800" dirty="0">
                <a:solidFill>
                  <a:schemeClr val="bg1"/>
                </a:solidFill>
              </a:rPr>
              <a:t> String, </a:t>
            </a:r>
            <a:r>
              <a:rPr lang="en-US" sz="2800" dirty="0" err="1">
                <a:solidFill>
                  <a:schemeClr val="bg1"/>
                </a:solidFill>
              </a:rPr>
              <a:t>len</a:t>
            </a:r>
            <a:r>
              <a:rPr lang="en-US" sz="2800" dirty="0">
                <a:solidFill>
                  <a:schemeClr val="bg1"/>
                </a:solidFill>
              </a:rPr>
              <a:t>()</a:t>
            </a:r>
            <a:endParaRPr sz="2800" i="1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C5EA5-3FC1-1961-FC08-56984351C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3009900"/>
            <a:ext cx="8991600" cy="689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6885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3E55A-B7A5-7025-005A-47CFAEFA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BCC476-FE7E-509E-9D82-1BFD840190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D4B258B-B6E3-DB98-F923-AEA218181FF9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C587606-2CEE-F90A-FA47-D64DCE8A6EAA}"/>
              </a:ext>
            </a:extLst>
          </p:cNvPr>
          <p:cNvSpPr txBox="1"/>
          <p:nvPr/>
        </p:nvSpPr>
        <p:spPr>
          <a:xfrm>
            <a:off x="952912" y="2023539"/>
            <a:ext cx="831278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75" dirty="0">
                <a:solidFill>
                  <a:srgbClr val="FFFFFF"/>
                </a:solidFill>
                <a:latin typeface="Trebuchet MS"/>
                <a:cs typeface="Trebuchet MS"/>
              </a:rPr>
              <a:t>WAP </a:t>
            </a:r>
            <a:r>
              <a:rPr sz="32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input</a:t>
            </a:r>
            <a:r>
              <a:rPr sz="32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user’s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10" dirty="0">
                <a:solidFill>
                  <a:srgbClr val="FFFFFF"/>
                </a:solidFill>
                <a:latin typeface="Trebuchet MS"/>
                <a:cs typeface="Trebuchet MS"/>
              </a:rPr>
              <a:t>name</a:t>
            </a:r>
            <a:r>
              <a:rPr sz="32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75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print</a:t>
            </a:r>
            <a:r>
              <a:rPr sz="32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its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Trebuchet MS"/>
                <a:cs typeface="Trebuchet MS"/>
              </a:rPr>
              <a:t>length.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4ED5A-C086-7800-74BB-9703C8EE0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090" y="2933700"/>
            <a:ext cx="12561694" cy="699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5606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96FAD-AC21-7E87-F93B-1F9E095D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2697E5D-96AE-693B-6CD2-0F5B6FC038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BF03F25-8E01-1E2C-FB5B-3004B5180E8A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4181F10-7D9D-D810-07F7-C48EE6CAD164}"/>
              </a:ext>
            </a:extLst>
          </p:cNvPr>
          <p:cNvSpPr txBox="1"/>
          <p:nvPr/>
        </p:nvSpPr>
        <p:spPr>
          <a:xfrm>
            <a:off x="952912" y="2023539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FF0000"/>
                </a:highlight>
              </a:rPr>
              <a:t>upper()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C424E8C-FB73-CE48-AD16-A4A7F09024FB}"/>
              </a:ext>
            </a:extLst>
          </p:cNvPr>
          <p:cNvSpPr txBox="1"/>
          <p:nvPr/>
        </p:nvSpPr>
        <p:spPr>
          <a:xfrm>
            <a:off x="958355" y="2708940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WAP to input a gene name and convert it to uppercase.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A28B72-44D0-9930-5391-CBCA6D7FF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12" y="3619500"/>
            <a:ext cx="10764148" cy="46439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7381E6-8F54-9B6B-79DD-0BFDE1FD5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0" y="3848100"/>
            <a:ext cx="6081469" cy="301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0710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EEC49-4B43-708B-8524-6527FF92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76EEC6-46A8-6668-236C-8E5086A2E5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9817500-DD2B-86B2-9B35-64D7846C7111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FEC5F6D-6C12-3360-3319-B06C77A130F7}"/>
              </a:ext>
            </a:extLst>
          </p:cNvPr>
          <p:cNvSpPr txBox="1"/>
          <p:nvPr/>
        </p:nvSpPr>
        <p:spPr>
          <a:xfrm>
            <a:off x="952912" y="2023539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FF0000"/>
                </a:highlight>
              </a:rPr>
              <a:t>lower()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90681A2-BBD5-D9D6-3892-6AD6F9308021}"/>
              </a:ext>
            </a:extLst>
          </p:cNvPr>
          <p:cNvSpPr txBox="1"/>
          <p:nvPr/>
        </p:nvSpPr>
        <p:spPr>
          <a:xfrm>
            <a:off x="958355" y="2708940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WAP to input a protein name and convert it to lowercase.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09DCF0-384A-8B2E-7D6D-72377E532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12" y="3815443"/>
            <a:ext cx="10648390" cy="40603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9F499D-3278-35C3-7925-20AA0FFE08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4" t="7720" r="8141" b="11840"/>
          <a:stretch>
            <a:fillRect/>
          </a:stretch>
        </p:blipFill>
        <p:spPr>
          <a:xfrm>
            <a:off x="11887200" y="4588328"/>
            <a:ext cx="59436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1098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7393C-384A-7682-7297-2BE619A2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54CBC27-0566-1474-66A0-EC03ED0E37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22981F6-F05D-241B-BAE7-5C8E5DC69F62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E980E42-89EB-6F06-09EF-0F3BB21EC5E5}"/>
              </a:ext>
            </a:extLst>
          </p:cNvPr>
          <p:cNvSpPr txBox="1"/>
          <p:nvPr/>
        </p:nvSpPr>
        <p:spPr>
          <a:xfrm>
            <a:off x="952912" y="2023539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FF0000"/>
                </a:highlight>
              </a:rPr>
              <a:t>replace()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7A21950-6123-E3EA-4453-E26E118473C6}"/>
              </a:ext>
            </a:extLst>
          </p:cNvPr>
          <p:cNvSpPr txBox="1"/>
          <p:nvPr/>
        </p:nvSpPr>
        <p:spPr>
          <a:xfrm>
            <a:off x="958354" y="2708940"/>
            <a:ext cx="154246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WAP to input a DNA sequence and replace all occurrences of 'A' with 'T'.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2C57FE-6C71-F38D-A8C6-9CF7F4166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12" y="3695700"/>
            <a:ext cx="10477088" cy="54251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6F54BB-64FB-E693-687A-2EFF74EF6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74" r="8615" b="17686"/>
          <a:stretch>
            <a:fillRect/>
          </a:stretch>
        </p:blipFill>
        <p:spPr>
          <a:xfrm>
            <a:off x="11924888" y="3975304"/>
            <a:ext cx="54102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684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4DDAA-28A6-38A1-06A9-0E6F6A0E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5BA440-9CD9-C381-67BC-5EE752D83F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C99660-878E-B940-D88C-349A03C6A1A9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E25E25B-7AB8-F114-8503-E07A7F078ED5}"/>
              </a:ext>
            </a:extLst>
          </p:cNvPr>
          <p:cNvSpPr txBox="1"/>
          <p:nvPr/>
        </p:nvSpPr>
        <p:spPr>
          <a:xfrm>
            <a:off x="952912" y="2023539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FF0000"/>
                </a:highlight>
              </a:rPr>
              <a:t>count()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51687B4-B570-6193-AAFA-F860D0EF814A}"/>
              </a:ext>
            </a:extLst>
          </p:cNvPr>
          <p:cNvSpPr txBox="1"/>
          <p:nvPr/>
        </p:nvSpPr>
        <p:spPr>
          <a:xfrm>
            <a:off x="958354" y="2708940"/>
            <a:ext cx="154246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WAP to input a DNA sequence and count the number of 'G' nucleotides.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D6C405-C007-ADC1-2BEB-76CD3640C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78" y="3705224"/>
            <a:ext cx="10157059" cy="3952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393E2F-38AB-35FB-7D4E-C14E5D385F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93" r="8210" b="16561"/>
          <a:stretch>
            <a:fillRect/>
          </a:stretch>
        </p:blipFill>
        <p:spPr>
          <a:xfrm>
            <a:off x="11430000" y="3705224"/>
            <a:ext cx="6576447" cy="319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7235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27679" y="2247900"/>
            <a:ext cx="75749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find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25" dirty="0">
                <a:solidFill>
                  <a:srgbClr val="FFFFFF"/>
                </a:solidFill>
                <a:latin typeface="Trebuchet MS"/>
                <a:cs typeface="Trebuchet MS"/>
              </a:rPr>
              <a:t>occurrence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65" dirty="0">
                <a:solidFill>
                  <a:srgbClr val="FFFFFF"/>
                </a:solidFill>
                <a:latin typeface="Trebuchet MS"/>
                <a:cs typeface="Trebuchet MS"/>
              </a:rPr>
              <a:t>‘</a:t>
            </a:r>
            <a:r>
              <a:rPr lang="en-US" sz="3200" spc="-265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r>
              <a:rPr sz="3200" spc="-265" dirty="0">
                <a:solidFill>
                  <a:srgbClr val="FFFFFF"/>
                </a:solidFill>
                <a:latin typeface="Trebuchet MS"/>
                <a:cs typeface="Trebuchet MS"/>
              </a:rPr>
              <a:t>’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String.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595F58-9F17-CCE4-1017-BB61762C8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192144"/>
            <a:ext cx="16488469" cy="501967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C9352-2500-E47F-2E76-AD3ADA8B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BA9ED9-23DE-B867-1AF0-74C7EC9E5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21D5D9B-482C-712C-2FA2-6433DA063834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E6BECBB-2E4F-DDB2-3AA2-51E6703AFD23}"/>
              </a:ext>
            </a:extLst>
          </p:cNvPr>
          <p:cNvSpPr txBox="1"/>
          <p:nvPr/>
        </p:nvSpPr>
        <p:spPr>
          <a:xfrm>
            <a:off x="952912" y="2023539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FF0000"/>
                </a:highlight>
              </a:rPr>
              <a:t>find()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D2F4D5B-8EBD-7002-01A7-212DC1531B4E}"/>
              </a:ext>
            </a:extLst>
          </p:cNvPr>
          <p:cNvSpPr txBox="1"/>
          <p:nvPr/>
        </p:nvSpPr>
        <p:spPr>
          <a:xfrm>
            <a:off x="958354" y="2708940"/>
            <a:ext cx="154246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WAP to input a DNA sequence and find the first occurrence of 'G'.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A0D92C-7859-D54C-6D60-4C2FD95AF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08" y="3476044"/>
            <a:ext cx="11044377" cy="36492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1FCF2A-1E02-8703-68FA-FBA456A397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24" r="18126" b="14058"/>
          <a:stretch>
            <a:fillRect/>
          </a:stretch>
        </p:blipFill>
        <p:spPr>
          <a:xfrm>
            <a:off x="12268200" y="3476044"/>
            <a:ext cx="5335466" cy="253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9811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E793-CF81-06D9-1DF5-2E5EEDA5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F73408E-D0F1-48DC-97B1-5CE1260AFB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0767D31-ABF4-36C5-3DEE-3FD8BEDA52F8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52F7DFA-8340-B6B9-E95B-4F7ECCA208C3}"/>
              </a:ext>
            </a:extLst>
          </p:cNvPr>
          <p:cNvSpPr txBox="1"/>
          <p:nvPr/>
        </p:nvSpPr>
        <p:spPr>
          <a:xfrm>
            <a:off x="1027679" y="2247900"/>
            <a:ext cx="75749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solidFill>
                  <a:schemeClr val="bg1"/>
                </a:solidFill>
              </a:rPr>
              <a:t>find the first position (index) of '3'</a:t>
            </a:r>
            <a:endParaRPr sz="32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9300D-4C6E-0842-9F10-4DF2AA78A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165475"/>
            <a:ext cx="1483629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8780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9D69F-2BB9-7785-02D9-002D210B9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4C82C2-81E2-12E3-F15A-8FC8F305BF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FF4C9FA-20CE-D797-73F8-7BBB8BC29E6C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65BB147-E7AD-E6FE-1E75-FF2F408DD39A}"/>
              </a:ext>
            </a:extLst>
          </p:cNvPr>
          <p:cNvSpPr txBox="1"/>
          <p:nvPr/>
        </p:nvSpPr>
        <p:spPr>
          <a:xfrm>
            <a:off x="952912" y="2023539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highlight>
                  <a:srgbClr val="FF0000"/>
                </a:highlight>
              </a:rPr>
              <a:t>startswith</a:t>
            </a:r>
            <a:r>
              <a:rPr lang="en-US" sz="3200" b="1" dirty="0">
                <a:solidFill>
                  <a:schemeClr val="bg1"/>
                </a:solidFill>
                <a:highlight>
                  <a:srgbClr val="FF0000"/>
                </a:highlight>
              </a:rPr>
              <a:t>()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4D5AA4-A34F-B819-FE5D-E3C61260011B}"/>
              </a:ext>
            </a:extLst>
          </p:cNvPr>
          <p:cNvSpPr txBox="1"/>
          <p:nvPr/>
        </p:nvSpPr>
        <p:spPr>
          <a:xfrm>
            <a:off x="958354" y="2708940"/>
            <a:ext cx="154246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WAP to input a DNA sequence and check whether it starts with 'AT'.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945491-C29B-446E-CBFE-BE6E5D880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924300"/>
            <a:ext cx="9359164" cy="38718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58C108-6D60-991F-AD94-CEA5EB9E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4002552"/>
            <a:ext cx="6915494" cy="307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264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A792-3C53-FC3C-E879-B24579C9A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03C2326-4C4F-BABE-9DC3-3CD7C4F0E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D1F44BA-FE8F-F9C1-C4DD-80ED85F23CBE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404CF9A-4930-336A-4771-48FADE773F0C}"/>
              </a:ext>
            </a:extLst>
          </p:cNvPr>
          <p:cNvSpPr txBox="1"/>
          <p:nvPr/>
        </p:nvSpPr>
        <p:spPr>
          <a:xfrm>
            <a:off x="952912" y="2023539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highlight>
                  <a:srgbClr val="FF0000"/>
                </a:highlight>
              </a:rPr>
              <a:t>endswith</a:t>
            </a:r>
            <a:r>
              <a:rPr lang="en-US" sz="3200" b="1" dirty="0">
                <a:solidFill>
                  <a:schemeClr val="bg1"/>
                </a:solidFill>
                <a:highlight>
                  <a:srgbClr val="FF0000"/>
                </a:highlight>
              </a:rPr>
              <a:t>()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9221B3E-4FA2-B073-21B3-A00FBC11C947}"/>
              </a:ext>
            </a:extLst>
          </p:cNvPr>
          <p:cNvSpPr txBox="1"/>
          <p:nvPr/>
        </p:nvSpPr>
        <p:spPr>
          <a:xfrm>
            <a:off x="958354" y="2708940"/>
            <a:ext cx="154246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WAP to input a DNA sequence and check whether it ends with 'GA'.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C70B76-9BB2-1E5C-7F38-639DFB3B5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78" y="3705224"/>
            <a:ext cx="10475923" cy="4333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E2762B-44DB-CB8F-0B53-EDC60ED71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0" y="3665528"/>
            <a:ext cx="5886181" cy="295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3072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E44BE-F500-3DC2-7CC6-FF7E0323C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D591B4-F0F1-9EDD-9DC3-8B76BEDB86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C28B610-B8B0-FA8C-761E-5CDFB2D904AD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45FDA9C-3B4E-1704-7C40-5DF2E9FAB685}"/>
              </a:ext>
            </a:extLst>
          </p:cNvPr>
          <p:cNvSpPr txBox="1"/>
          <p:nvPr/>
        </p:nvSpPr>
        <p:spPr>
          <a:xfrm>
            <a:off x="952912" y="2023539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FF0000"/>
                </a:highlight>
              </a:rPr>
              <a:t>split()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6FFEBFB-7EED-E371-4228-56286D1786FD}"/>
              </a:ext>
            </a:extLst>
          </p:cNvPr>
          <p:cNvSpPr txBox="1"/>
          <p:nvPr/>
        </p:nvSpPr>
        <p:spPr>
          <a:xfrm>
            <a:off x="958354" y="2708940"/>
            <a:ext cx="154246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WAP to input three gene names separated by spaces and split them into a list.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C5F6D6-1AD3-C9D1-B354-4D1ECE9E6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79" y="3619500"/>
            <a:ext cx="10660115" cy="4410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EA0391-2CFE-20A6-584D-AAB7EB99B5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30"/>
          <a:stretch>
            <a:fillRect/>
          </a:stretch>
        </p:blipFill>
        <p:spPr>
          <a:xfrm>
            <a:off x="11887200" y="3924300"/>
            <a:ext cx="6164777" cy="273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2518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7EA5B-672C-7D23-670F-426CD323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1B736F-E169-0B9E-76D8-BD65E250DE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6A01039-0A83-2C50-16B2-5BD31D7F4DCF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E53CB7C-A3C2-F1B3-9E07-7BA9CEA5E1FC}"/>
              </a:ext>
            </a:extLst>
          </p:cNvPr>
          <p:cNvSpPr txBox="1"/>
          <p:nvPr/>
        </p:nvSpPr>
        <p:spPr>
          <a:xfrm>
            <a:off x="952912" y="2023539"/>
            <a:ext cx="130408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FF0000"/>
                </a:highlight>
              </a:rPr>
              <a:t>join()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FEBBDF2-4798-CD20-475C-D79479A20CDA}"/>
              </a:ext>
            </a:extLst>
          </p:cNvPr>
          <p:cNvSpPr txBox="1"/>
          <p:nvPr/>
        </p:nvSpPr>
        <p:spPr>
          <a:xfrm>
            <a:off x="958354" y="2708940"/>
            <a:ext cx="154246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WAP to join the following gene names using a hyphen (-).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E5C105-B909-4EB3-DD1A-11103CB76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619500"/>
            <a:ext cx="7329488" cy="3751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A2EF1E-56C4-1513-E1AA-E023B060D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36" y="3705224"/>
            <a:ext cx="8784364" cy="378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9875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u="sng" spc="-204" dirty="0">
                <a:uFill>
                  <a:solidFill>
                    <a:srgbClr val="FFFFFF"/>
                  </a:solidFill>
                </a:uFill>
              </a:rPr>
              <a:t>Conditional</a:t>
            </a:r>
            <a:r>
              <a:rPr u="sng" spc="-30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u="sng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138735"/>
            <a:ext cx="3485515" cy="5452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45" dirty="0">
                <a:solidFill>
                  <a:srgbClr val="3BE2EC"/>
                </a:solidFill>
                <a:latin typeface="Trebuchet MS"/>
                <a:cs typeface="Trebuchet MS"/>
              </a:rPr>
              <a:t>if-</a:t>
            </a:r>
            <a:r>
              <a:rPr sz="3200" spc="-105" dirty="0">
                <a:solidFill>
                  <a:srgbClr val="3BE2EC"/>
                </a:solidFill>
                <a:latin typeface="Trebuchet MS"/>
                <a:cs typeface="Trebuchet MS"/>
              </a:rPr>
              <a:t>elif-</a:t>
            </a:r>
            <a:r>
              <a:rPr sz="3200" spc="-125" dirty="0">
                <a:solidFill>
                  <a:srgbClr val="3BE2EC"/>
                </a:solidFill>
                <a:latin typeface="Trebuchet MS"/>
                <a:cs typeface="Trebuchet MS"/>
              </a:rPr>
              <a:t>else</a:t>
            </a:r>
            <a:r>
              <a:rPr sz="3200" spc="-100" dirty="0">
                <a:solidFill>
                  <a:srgbClr val="3BE2EC"/>
                </a:solidFill>
                <a:latin typeface="Trebuchet MS"/>
                <a:cs typeface="Trebuchet MS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(SYNTAX)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204"/>
              </a:spcBef>
            </a:pPr>
            <a:endParaRPr sz="3200">
              <a:latin typeface="Trebuchet MS"/>
              <a:cs typeface="Trebuchet MS"/>
            </a:endParaRPr>
          </a:p>
          <a:p>
            <a:pPr marL="379730">
              <a:lnSpc>
                <a:spcPct val="100000"/>
              </a:lnSpc>
            </a:pPr>
            <a:r>
              <a:rPr sz="3200" dirty="0">
                <a:solidFill>
                  <a:srgbClr val="FFA511"/>
                </a:solidFill>
                <a:latin typeface="Trebuchet MS"/>
                <a:cs typeface="Trebuchet MS"/>
              </a:rPr>
              <a:t>if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(condition)</a:t>
            </a:r>
            <a:r>
              <a:rPr sz="32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09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endParaRPr sz="3200">
              <a:latin typeface="Trebuchet MS"/>
              <a:cs typeface="Trebuchet MS"/>
            </a:endParaRPr>
          </a:p>
          <a:p>
            <a:pPr marL="379730" marR="146050" indent="749300">
              <a:lnSpc>
                <a:spcPct val="146500"/>
              </a:lnSpc>
            </a:pPr>
            <a:r>
              <a:rPr sz="3200" spc="45" dirty="0">
                <a:solidFill>
                  <a:srgbClr val="FFFFFF"/>
                </a:solidFill>
                <a:latin typeface="Trebuchet MS"/>
                <a:cs typeface="Trebuchet MS"/>
              </a:rPr>
              <a:t>Statement1 </a:t>
            </a:r>
            <a:r>
              <a:rPr sz="3200" spc="-10" dirty="0">
                <a:solidFill>
                  <a:srgbClr val="FFA511"/>
                </a:solidFill>
                <a:latin typeface="Trebuchet MS"/>
                <a:cs typeface="Trebuchet MS"/>
              </a:rPr>
              <a:t>elif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(condition):</a:t>
            </a:r>
            <a:endParaRPr sz="3200">
              <a:latin typeface="Trebuchet MS"/>
              <a:cs typeface="Trebuchet MS"/>
            </a:endParaRPr>
          </a:p>
          <a:p>
            <a:pPr marL="379730" marR="69215" indent="749300">
              <a:lnSpc>
                <a:spcPct val="146500"/>
              </a:lnSpc>
            </a:pPr>
            <a:r>
              <a:rPr sz="3200" spc="105" dirty="0">
                <a:solidFill>
                  <a:srgbClr val="FFFFFF"/>
                </a:solidFill>
                <a:latin typeface="Trebuchet MS"/>
                <a:cs typeface="Trebuchet MS"/>
              </a:rPr>
              <a:t>Statement2 </a:t>
            </a:r>
            <a:r>
              <a:rPr sz="3200" spc="-10" dirty="0">
                <a:solidFill>
                  <a:srgbClr val="FFA511"/>
                </a:solidFill>
                <a:latin typeface="Trebuchet MS"/>
                <a:cs typeface="Trebuchet MS"/>
              </a:rPr>
              <a:t>else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endParaRPr sz="3200">
              <a:latin typeface="Trebuchet MS"/>
              <a:cs typeface="Trebuchet MS"/>
            </a:endParaRPr>
          </a:p>
          <a:p>
            <a:pPr marL="1129030">
              <a:lnSpc>
                <a:spcPct val="100000"/>
              </a:lnSpc>
              <a:spcBef>
                <a:spcPts val="1785"/>
              </a:spcBef>
            </a:pPr>
            <a:r>
              <a:rPr sz="3200" spc="120" dirty="0">
                <a:solidFill>
                  <a:srgbClr val="FFFFFF"/>
                </a:solidFill>
                <a:latin typeface="Trebuchet MS"/>
                <a:cs typeface="Trebuchet MS"/>
              </a:rPr>
              <a:t>StatementN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med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E21F9-B7B3-C34A-5A79-44F434AA1A4D}"/>
              </a:ext>
            </a:extLst>
          </p:cNvPr>
          <p:cNvSpPr txBox="1"/>
          <p:nvPr/>
        </p:nvSpPr>
        <p:spPr>
          <a:xfrm>
            <a:off x="934374" y="2400300"/>
            <a:ext cx="152962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500" spc="-175" dirty="0">
                <a:solidFill>
                  <a:schemeClr val="bg1"/>
                </a:solidFill>
                <a:latin typeface="Trebuchet MS"/>
                <a:cs typeface="Trebuchet MS"/>
              </a:rPr>
              <a:t>WAP</a:t>
            </a:r>
            <a:r>
              <a:rPr lang="en-US" sz="4500" spc="-16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4500" spc="-150" dirty="0">
                <a:solidFill>
                  <a:schemeClr val="bg1"/>
                </a:solidFill>
                <a:latin typeface="Trebuchet MS"/>
                <a:cs typeface="Trebuchet MS"/>
              </a:rPr>
              <a:t>to</a:t>
            </a:r>
            <a:r>
              <a:rPr lang="en-US" sz="4500" spc="-16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4500" spc="-140" dirty="0">
                <a:solidFill>
                  <a:schemeClr val="bg1"/>
                </a:solidFill>
                <a:latin typeface="Trebuchet MS"/>
                <a:cs typeface="Trebuchet MS"/>
              </a:rPr>
              <a:t>check User Can </a:t>
            </a:r>
            <a:r>
              <a:rPr lang="en-US" sz="4500" dirty="0">
                <a:solidFill>
                  <a:schemeClr val="bg1"/>
                </a:solidFill>
              </a:rPr>
              <a:t>eligible for vote or Not</a:t>
            </a:r>
            <a:endParaRPr lang="en-US" sz="45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BB6F5-0778-46E8-2913-A69B6A90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24B7D2-A251-698B-4DC7-A27688EC2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5" t="8309" r="4961" b="8310"/>
          <a:stretch>
            <a:fillRect/>
          </a:stretch>
        </p:blipFill>
        <p:spPr>
          <a:xfrm>
            <a:off x="1600200" y="372207"/>
            <a:ext cx="15087600" cy="954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36729"/>
      </p:ext>
    </p:extLst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E312-1B50-5617-21CE-7C054BE0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2D40F3-12C1-7DF1-2F33-7C4DE18F73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5074AC-2B08-FC11-99CD-407ED1BB9840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EAF716-E8AD-45A0-56EA-70FF6A67A99A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check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0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35" dirty="0">
                <a:solidFill>
                  <a:srgbClr val="FFFFFF"/>
                </a:solidFill>
                <a:latin typeface="Trebuchet MS"/>
                <a:cs typeface="Trebuchet MS"/>
              </a:rPr>
              <a:t>number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5" dirty="0">
                <a:solidFill>
                  <a:srgbClr val="FFFFFF"/>
                </a:solidFill>
                <a:latin typeface="Trebuchet MS"/>
                <a:cs typeface="Trebuchet MS"/>
              </a:rPr>
              <a:t>entered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20" dirty="0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odd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6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10" dirty="0">
                <a:solidFill>
                  <a:srgbClr val="FFFFFF"/>
                </a:solidFill>
                <a:latin typeface="Trebuchet MS"/>
                <a:cs typeface="Trebuchet MS"/>
              </a:rPr>
              <a:t>even.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14398075"/>
      </p:ext>
    </p:extLst>
  </p:cSld>
  <p:clrMapOvr>
    <a:masterClrMapping/>
  </p:clrMapOvr>
  <p:transition spd="med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B143-C4B6-9A38-5E36-F68322D9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A2CD79C-54B4-D6FB-DF53-48E9A7AE8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" t="7549" r="5416" b="8653"/>
          <a:stretch>
            <a:fillRect/>
          </a:stretch>
        </p:blipFill>
        <p:spPr>
          <a:xfrm>
            <a:off x="1181100" y="118782"/>
            <a:ext cx="15925800" cy="1004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93621"/>
      </p:ext>
    </p:extLst>
  </p:cSld>
  <p:clrMapOvr>
    <a:masterClrMapping/>
  </p:clrMapOvr>
  <p:transition spd="med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50E4-41A4-DCCF-F170-4CB5EED5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8B6A73-F529-A6A1-F26E-A05249D40A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D3E3847-4C49-36A7-EEEF-48C7182AFF8D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A1C96C-28D0-2A1C-C280-E6D1DDE20F8E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0" dirty="0">
                <a:solidFill>
                  <a:srgbClr val="FFFFFF"/>
                </a:solidFill>
                <a:latin typeface="Trebuchet MS"/>
                <a:cs typeface="Trebuchet MS"/>
              </a:rPr>
              <a:t>find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90" dirty="0">
                <a:solidFill>
                  <a:srgbClr val="FFFFFF"/>
                </a:solidFill>
                <a:latin typeface="Trebuchet MS"/>
                <a:cs typeface="Trebuchet MS"/>
              </a:rPr>
              <a:t>greatest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90" dirty="0">
                <a:solidFill>
                  <a:srgbClr val="FFFFFF"/>
                </a:solidFill>
                <a:latin typeface="Trebuchet MS"/>
                <a:cs typeface="Trebuchet MS"/>
              </a:rPr>
              <a:t>numbers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5" dirty="0">
                <a:solidFill>
                  <a:srgbClr val="FFFFFF"/>
                </a:solidFill>
                <a:latin typeface="Trebuchet MS"/>
                <a:cs typeface="Trebuchet MS"/>
              </a:rPr>
              <a:t>entered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by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" dirty="0">
                <a:solidFill>
                  <a:srgbClr val="FFFFFF"/>
                </a:solidFill>
                <a:latin typeface="Trebuchet MS"/>
                <a:cs typeface="Trebuchet MS"/>
              </a:rPr>
              <a:t>user.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212464598"/>
      </p:ext>
    </p:extLst>
  </p:cSld>
  <p:clrMapOvr>
    <a:masterClrMapping/>
  </p:clrMapOvr>
  <p:transition spd="med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30C63-7A12-1500-00AA-61938218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BD5405-F157-6F1A-B60F-76A89EE1A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3" t="6370" r="3654" b="6267"/>
          <a:stretch>
            <a:fillRect/>
          </a:stretch>
        </p:blipFill>
        <p:spPr>
          <a:xfrm>
            <a:off x="1828800" y="540203"/>
            <a:ext cx="15163800" cy="920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09038"/>
      </p:ext>
    </p:extLst>
  </p:cSld>
  <p:clrMapOvr>
    <a:masterClrMapping/>
  </p:clrMapOvr>
  <p:transition spd="med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A763-C4B0-F9EC-C10E-79C7070D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7365F3-07E3-71B5-F68B-084A190B2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350B4EC-0060-33E2-209F-1DDC250AB821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7B1DFD-523F-0791-7BF4-201C2D9D88F3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check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0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35" dirty="0">
                <a:solidFill>
                  <a:srgbClr val="FFFFFF"/>
                </a:solidFill>
                <a:latin typeface="Trebuchet MS"/>
                <a:cs typeface="Trebuchet MS"/>
              </a:rPr>
              <a:t>number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multiple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6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70" dirty="0">
                <a:solidFill>
                  <a:srgbClr val="FFFFFF"/>
                </a:solidFill>
                <a:latin typeface="Trebuchet MS"/>
                <a:cs typeface="Trebuchet MS"/>
              </a:rPr>
              <a:t>not.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472477737"/>
      </p:ext>
    </p:extLst>
  </p:cSld>
  <p:clrMapOvr>
    <a:masterClrMapping/>
  </p:clrMapOvr>
  <p:transition spd="med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D545-3403-CC9A-8662-92ADD835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BD1E1EA-4F26-3037-B340-57DA2BA53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" t="5953" r="3365" b="7142"/>
          <a:stretch>
            <a:fillRect/>
          </a:stretch>
        </p:blipFill>
        <p:spPr>
          <a:xfrm>
            <a:off x="740079" y="1638300"/>
            <a:ext cx="16807842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40532"/>
      </p:ext>
    </p:extLst>
  </p:cSld>
  <p:clrMapOvr>
    <a:masterClrMapping/>
  </p:clrMapOvr>
  <p:transition spd="med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9C6B-9EAA-C483-1FA3-DD8CCB37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B39751-FE66-E0AE-2B5F-7144F845CA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00D3AFE-E877-53EA-FD43-3087FBDE7815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6A6E8-E439-5C92-B862-F29E7E386404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 check Today is Holiday or Not</a:t>
            </a:r>
            <a:r>
              <a:rPr lang="en-US" sz="4400" spc="-70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13058570"/>
      </p:ext>
    </p:extLst>
  </p:cSld>
  <p:clrMapOvr>
    <a:masterClrMapping/>
  </p:clrMapOvr>
  <p:transition spd="med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135F3-BE42-3BF0-82F2-5A48527E3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EC38ED8-AC6F-17E8-3A55-B8CF49E4A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4074" r="4429" b="4074"/>
          <a:stretch>
            <a:fillRect/>
          </a:stretch>
        </p:blipFill>
        <p:spPr>
          <a:xfrm>
            <a:off x="4495800" y="61792"/>
            <a:ext cx="9753600" cy="1016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33302"/>
      </p:ext>
    </p:extLst>
  </p:cSld>
  <p:clrMapOvr>
    <a:masterClrMapping/>
  </p:clrMapOvr>
  <p:transition spd="med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3F53-A4CC-7447-1E92-96F4E7FC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870B7A-8353-47A7-76AE-FA153CDB4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60FA2E3-6758-5B95-BE98-76BDE0A092D5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4E3C2-1347-4F1B-602F-8E497BC3BD70}"/>
              </a:ext>
            </a:extLst>
          </p:cNvPr>
          <p:cNvSpPr txBox="1"/>
          <p:nvPr/>
        </p:nvSpPr>
        <p:spPr>
          <a:xfrm>
            <a:off x="934374" y="2400300"/>
            <a:ext cx="152962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check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the Result of the Student and also show the obtain Grade.</a:t>
            </a:r>
            <a:b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</a:br>
            <a:endParaRPr lang="en-US" sz="4400" dirty="0">
              <a:latin typeface="Trebuchet MS"/>
              <a:cs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210A0-E691-E33D-A02D-F82279E01924}"/>
              </a:ext>
            </a:extLst>
          </p:cNvPr>
          <p:cNvSpPr txBox="1"/>
          <p:nvPr/>
        </p:nvSpPr>
        <p:spPr>
          <a:xfrm>
            <a:off x="1447800" y="4152900"/>
            <a:ext cx="7239000" cy="553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200" dirty="0">
                <a:solidFill>
                  <a:srgbClr val="FFFFFF"/>
                </a:solidFill>
                <a:latin typeface="Trebuchet MS"/>
                <a:cs typeface="Trebuchet MS"/>
              </a:rPr>
              <a:t>e.g.</a:t>
            </a:r>
            <a:br>
              <a:rPr lang="en-US" sz="4000" spc="-200" dirty="0">
                <a:solidFill>
                  <a:srgbClr val="FFFFFF"/>
                </a:solidFill>
                <a:latin typeface="Trebuchet MS"/>
                <a:cs typeface="Trebuchet MS"/>
              </a:rPr>
            </a:br>
            <a:endParaRPr lang="en-US" sz="40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lang="en-US" sz="4000" spc="-80" dirty="0">
                <a:solidFill>
                  <a:srgbClr val="FFFFFF"/>
                </a:solidFill>
                <a:latin typeface="Trebuchet MS"/>
                <a:cs typeface="Trebuchet MS"/>
              </a:rPr>
              <a:t>marks</a:t>
            </a:r>
            <a:r>
              <a:rPr lang="en-US" sz="40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90" dirty="0">
                <a:solidFill>
                  <a:srgbClr val="FFFFFF"/>
                </a:solidFill>
                <a:latin typeface="Trebuchet MS"/>
                <a:cs typeface="Trebuchet MS"/>
              </a:rPr>
              <a:t>&gt;=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25" dirty="0">
                <a:solidFill>
                  <a:srgbClr val="FFFFFF"/>
                </a:solidFill>
                <a:latin typeface="Trebuchet MS"/>
                <a:cs typeface="Trebuchet MS"/>
              </a:rPr>
              <a:t>90,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310" dirty="0">
                <a:solidFill>
                  <a:srgbClr val="FFFFFF"/>
                </a:solidFill>
                <a:latin typeface="Trebuchet MS"/>
                <a:cs typeface="Trebuchet MS"/>
              </a:rPr>
              <a:t>“A”</a:t>
            </a:r>
            <a:endParaRPr lang="en-US" sz="4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lang="en-US" sz="40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Trebuchet MS"/>
                <a:cs typeface="Trebuchet MS"/>
              </a:rPr>
              <a:t>90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&gt;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80" dirty="0">
                <a:solidFill>
                  <a:srgbClr val="FFFFFF"/>
                </a:solidFill>
                <a:latin typeface="Trebuchet MS"/>
                <a:cs typeface="Trebuchet MS"/>
              </a:rPr>
              <a:t>marks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90" dirty="0">
                <a:solidFill>
                  <a:srgbClr val="FFFFFF"/>
                </a:solidFill>
                <a:latin typeface="Trebuchet MS"/>
                <a:cs typeface="Trebuchet MS"/>
              </a:rPr>
              <a:t>&gt;=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25" dirty="0">
                <a:solidFill>
                  <a:srgbClr val="FFFFFF"/>
                </a:solidFill>
                <a:latin typeface="Trebuchet MS"/>
                <a:cs typeface="Trebuchet MS"/>
              </a:rPr>
              <a:t>80,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85" dirty="0">
                <a:solidFill>
                  <a:srgbClr val="FFFFFF"/>
                </a:solidFill>
                <a:latin typeface="Trebuchet MS"/>
                <a:cs typeface="Trebuchet MS"/>
              </a:rPr>
              <a:t>“B”</a:t>
            </a:r>
            <a:endParaRPr lang="en-US" sz="4000" dirty="0">
              <a:latin typeface="Trebuchet MS"/>
              <a:cs typeface="Trebuchet MS"/>
            </a:endParaRPr>
          </a:p>
          <a:p>
            <a:pPr marL="469900" marR="16510">
              <a:lnSpc>
                <a:spcPts val="9170"/>
              </a:lnSpc>
              <a:spcBef>
                <a:spcPts val="985"/>
              </a:spcBef>
            </a:pPr>
            <a:r>
              <a:rPr lang="en-US" sz="4000" dirty="0">
                <a:solidFill>
                  <a:srgbClr val="FFFFFF"/>
                </a:solidFill>
                <a:latin typeface="Trebuchet MS"/>
                <a:cs typeface="Trebuchet MS"/>
              </a:rPr>
              <a:t>80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&gt;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80" dirty="0">
                <a:solidFill>
                  <a:srgbClr val="FFFFFF"/>
                </a:solidFill>
                <a:latin typeface="Trebuchet MS"/>
                <a:cs typeface="Trebuchet MS"/>
              </a:rPr>
              <a:t>marks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90" dirty="0">
                <a:solidFill>
                  <a:srgbClr val="FFFFFF"/>
                </a:solidFill>
                <a:latin typeface="Trebuchet MS"/>
                <a:cs typeface="Trebuchet MS"/>
              </a:rPr>
              <a:t>&gt;=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25" dirty="0">
                <a:solidFill>
                  <a:srgbClr val="FFFFFF"/>
                </a:solidFill>
                <a:latin typeface="Trebuchet MS"/>
                <a:cs typeface="Trebuchet MS"/>
              </a:rPr>
              <a:t>70,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350" dirty="0">
                <a:solidFill>
                  <a:srgbClr val="FFFFFF"/>
                </a:solidFill>
                <a:latin typeface="Trebuchet MS"/>
                <a:cs typeface="Trebuchet MS"/>
              </a:rPr>
              <a:t>“C” </a:t>
            </a:r>
            <a:r>
              <a:rPr lang="en-US" sz="4000" dirty="0">
                <a:solidFill>
                  <a:srgbClr val="FFFFFF"/>
                </a:solidFill>
                <a:latin typeface="Trebuchet MS"/>
                <a:cs typeface="Trebuchet MS"/>
              </a:rPr>
              <a:t>70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&gt;</a:t>
            </a:r>
            <a:r>
              <a:rPr lang="en-US" sz="4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40" dirty="0">
                <a:solidFill>
                  <a:srgbClr val="FFFFFF"/>
                </a:solidFill>
                <a:latin typeface="Trebuchet MS"/>
                <a:cs typeface="Trebuchet MS"/>
              </a:rPr>
              <a:t>marks,</a:t>
            </a:r>
            <a:r>
              <a:rPr lang="en-US" sz="40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330" dirty="0">
                <a:solidFill>
                  <a:srgbClr val="FFFFFF"/>
                </a:solidFill>
                <a:latin typeface="Trebuchet MS"/>
                <a:cs typeface="Trebuchet MS"/>
              </a:rPr>
              <a:t>“D”</a:t>
            </a:r>
            <a:endParaRPr lang="en-US" sz="4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08776189"/>
      </p:ext>
    </p:extLst>
  </p:cSld>
  <p:clrMapOvr>
    <a:masterClrMapping/>
  </p:clrMapOvr>
  <p:transition spd="med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BBCC8-989F-1574-050C-FF3D8313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6455EE7-5081-8390-6164-EAFFBCF2C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7" t="3333" r="3533" b="3333"/>
          <a:stretch>
            <a:fillRect/>
          </a:stretch>
        </p:blipFill>
        <p:spPr>
          <a:xfrm>
            <a:off x="4536470" y="95250"/>
            <a:ext cx="9215059" cy="100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56417"/>
      </p:ext>
    </p:extLst>
  </p:cSld>
  <p:clrMapOvr>
    <a:masterClrMapping/>
  </p:clrMapOvr>
  <p:transition spd="med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31AC-A085-C73A-2ACD-28EBF39CB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6A2021-8A07-4AE3-0BA6-B7A2053C5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9" b="5199"/>
          <a:stretch/>
        </p:blipFill>
        <p:spPr>
          <a:xfrm>
            <a:off x="4536470" y="95250"/>
            <a:ext cx="9215059" cy="100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1518"/>
      </p:ext>
    </p:extLst>
  </p:cSld>
  <p:clrMapOvr>
    <a:masterClrMapping/>
  </p:clrMapOvr>
  <p:transition spd="med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7930-49A3-A479-1A02-DD68E0BB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783AC0-30A5-8B95-E106-0EB757086833}"/>
              </a:ext>
            </a:extLst>
          </p:cNvPr>
          <p:cNvSpPr txBox="1"/>
          <p:nvPr/>
        </p:nvSpPr>
        <p:spPr>
          <a:xfrm>
            <a:off x="2095500" y="3696950"/>
            <a:ext cx="1409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FFC000"/>
                </a:solidFill>
                <a:latin typeface="+mn-lt"/>
              </a:rPr>
              <a:t>Thank You So Much </a:t>
            </a:r>
          </a:p>
        </p:txBody>
      </p:sp>
    </p:spTree>
    <p:extLst>
      <p:ext uri="{BB962C8B-B14F-4D97-AF65-F5344CB8AC3E}">
        <p14:creationId xmlns:p14="http://schemas.microsoft.com/office/powerpoint/2010/main" val="310561825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</TotalTime>
  <Words>811</Words>
  <Application>Microsoft Office PowerPoint</Application>
  <PresentationFormat>Custom</PresentationFormat>
  <Paragraphs>119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Arial MT</vt:lpstr>
      <vt:lpstr>Calibri</vt:lpstr>
      <vt:lpstr>Trebuchet MS</vt:lpstr>
      <vt:lpstr>Wingdings</vt:lpstr>
      <vt:lpstr>Office Theme</vt:lpstr>
      <vt:lpstr>Welcome Back! Let's Get Started. Lecture: 2</vt:lpstr>
      <vt:lpstr>Lecture: 2 ‘Introduction of String’, “Indexing and Slicing” ””” .String_method()””” </vt:lpstr>
      <vt:lpstr>Strings</vt:lpstr>
      <vt:lpstr>Strings</vt:lpstr>
      <vt:lpstr>Strings Example</vt:lpstr>
      <vt:lpstr>Strings</vt:lpstr>
      <vt:lpstr>Strings</vt:lpstr>
      <vt:lpstr>Strings</vt:lpstr>
      <vt:lpstr>Indexing</vt:lpstr>
      <vt:lpstr>Slicing</vt:lpstr>
      <vt:lpstr>Slicing</vt:lpstr>
      <vt:lpstr>Slicing</vt:lpstr>
      <vt:lpstr>Slicing</vt:lpstr>
      <vt:lpstr>Slicing</vt:lpstr>
      <vt:lpstr>Slicing</vt:lpstr>
      <vt:lpstr>Slicing</vt:lpstr>
      <vt:lpstr>String Functions</vt:lpstr>
      <vt:lpstr>Let‘s Practice</vt:lpstr>
      <vt:lpstr>Let‘s Practice</vt:lpstr>
      <vt:lpstr>Let‘s Practice</vt:lpstr>
      <vt:lpstr>Let‘s Practice</vt:lpstr>
      <vt:lpstr>Let‘s Practice</vt:lpstr>
      <vt:lpstr>Let‘s Practice</vt:lpstr>
      <vt:lpstr>Let‘s Practice</vt:lpstr>
      <vt:lpstr>Let‘s Practice</vt:lpstr>
      <vt:lpstr>Let‘s Practice</vt:lpstr>
      <vt:lpstr>Let‘s Practice</vt:lpstr>
      <vt:lpstr>Let‘s Practice</vt:lpstr>
      <vt:lpstr>Let‘s Practice</vt:lpstr>
      <vt:lpstr>Let‘s Practice</vt:lpstr>
      <vt:lpstr>Let‘s Practice</vt:lpstr>
      <vt:lpstr>Conditional Statements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Python2</dc:title>
  <dc:creator>Rahul Neha</dc:creator>
  <cp:keywords>DAF6soN5_zo,BAEHDsZUYOI</cp:keywords>
  <cp:lastModifiedBy>Sushil Shrestha</cp:lastModifiedBy>
  <cp:revision>9</cp:revision>
  <dcterms:created xsi:type="dcterms:W3CDTF">2025-07-28T02:32:17Z</dcterms:created>
  <dcterms:modified xsi:type="dcterms:W3CDTF">2026-07-11T09:50:12Z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2024-01-27T00:00:00Z</vt:filetime>
  </property>
  <property fmtid="{D5CDD505-2E9C-101B-9397-08002B2CF9AE}" pid="3" name="Creator">
    <vt:lpwstr>Canva</vt:lpwstr>
  </property>
  <property fmtid="{D5CDD505-2E9C-101B-9397-08002B2CF9AE}" pid="4" name="LastSaved">
    <vt:filetime>2025-07-28T00:00:00Z</vt:filetime>
  </property>
  <property fmtid="{D5CDD505-2E9C-101B-9397-08002B2CF9AE}" pid="5" name="Producer">
    <vt:lpwstr>Canva</vt:lpwstr>
  </property>
</Properties>
</file>