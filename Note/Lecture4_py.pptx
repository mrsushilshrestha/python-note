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2" r:id="rId2"/>
    <p:sldId id="271" r:id="rId3"/>
    <p:sldId id="256" r:id="rId4"/>
    <p:sldId id="257" r:id="rId5"/>
    <p:sldId id="258" r:id="rId6"/>
    <p:sldId id="266" r:id="rId7"/>
    <p:sldId id="267" r:id="rId8"/>
    <p:sldId id="265" r:id="rId9"/>
    <p:sldId id="259" r:id="rId10"/>
    <p:sldId id="260" r:id="rId11"/>
    <p:sldId id="261" r:id="rId12"/>
    <p:sldId id="268" r:id="rId13"/>
    <p:sldId id="262" r:id="rId14"/>
    <p:sldId id="269" r:id="rId15"/>
    <p:sldId id="263" r:id="rId16"/>
    <p:sldId id="270" r:id="rId17"/>
    <p:sldId id="273" r:id="rId18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7" d="100"/>
          <a:sy n="37" d="100"/>
        </p:scale>
        <p:origin x="1060" y="3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2D4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66" y="995042"/>
            <a:ext cx="4755515" cy="8483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FFA51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53066" y="2097741"/>
            <a:ext cx="13132435" cy="67523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5E520-8D2C-900C-BA50-7567998F1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171700"/>
            <a:ext cx="15982667" cy="4663264"/>
          </a:xfrm>
        </p:spPr>
        <p:txBody>
          <a:bodyPr/>
          <a:lstStyle/>
          <a:p>
            <a:pPr algn="ctr">
              <a:lnSpc>
                <a:spcPct val="150000"/>
              </a:lnSpc>
            </a:pPr>
            <a:r>
              <a:rPr lang="en-US" sz="6000" b="1" dirty="0">
                <a:solidFill>
                  <a:srgbClr val="FFC000"/>
                </a:solidFill>
              </a:rPr>
              <a:t>Lecture: 4</a:t>
            </a:r>
            <a:br>
              <a:rPr lang="en-US" sz="6000" b="1" dirty="0">
                <a:solidFill>
                  <a:srgbClr val="FFC000"/>
                </a:solidFill>
              </a:rPr>
            </a:br>
            <a:r>
              <a:rPr lang="en-US" sz="6000" b="1" dirty="0">
                <a:solidFill>
                  <a:srgbClr val="FFC000"/>
                </a:solidFill>
              </a:rPr>
              <a:t>Data Structures or Data Types In Python</a:t>
            </a:r>
            <a:br>
              <a:rPr lang="en-US" sz="6000" b="1" dirty="0">
                <a:solidFill>
                  <a:srgbClr val="FFC000"/>
                </a:solidFill>
              </a:rPr>
            </a:br>
            <a:r>
              <a:rPr lang="en-US" sz="4400" b="1" dirty="0">
                <a:solidFill>
                  <a:srgbClr val="00B050"/>
                </a:solidFill>
              </a:rPr>
              <a:t>[list],(tuple),{</a:t>
            </a:r>
            <a:r>
              <a:rPr lang="en-US" altLang="en-US" sz="4400" b="1" dirty="0">
                <a:solidFill>
                  <a:srgbClr val="00B050"/>
                </a:solidFill>
                <a:latin typeface="Arial Unicode MS"/>
              </a:rPr>
              <a:t>dict: dictionary},{set}</a:t>
            </a:r>
            <a:br>
              <a:rPr lang="en-US" sz="4400" b="1" dirty="0">
                <a:solidFill>
                  <a:srgbClr val="00B050"/>
                </a:solidFill>
              </a:rPr>
            </a:br>
            <a:endParaRPr lang="en-US" sz="4400" b="1" dirty="0">
              <a:solidFill>
                <a:srgbClr val="00B050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B0C6F5E-4CD2-C05B-9890-E840112C64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227948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8D8C63-CB27-8ABC-5121-471F8ED2157F}"/>
              </a:ext>
            </a:extLst>
          </p:cNvPr>
          <p:cNvSpPr txBox="1"/>
          <p:nvPr/>
        </p:nvSpPr>
        <p:spPr>
          <a:xfrm>
            <a:off x="12649200" y="8877300"/>
            <a:ext cx="5410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latin typeface="+mn-lt"/>
              </a:rPr>
              <a:t>Sushil Shrestha</a:t>
            </a:r>
          </a:p>
        </p:txBody>
      </p:sp>
    </p:spTree>
    <p:extLst>
      <p:ext uri="{BB962C8B-B14F-4D97-AF65-F5344CB8AC3E}">
        <p14:creationId xmlns:p14="http://schemas.microsoft.com/office/powerpoint/2010/main" val="965128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D0513-2D8C-2DDC-FAEE-489DD580C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04900"/>
            <a:ext cx="17068800" cy="2031325"/>
          </a:xfrm>
        </p:spPr>
        <p:txBody>
          <a:bodyPr/>
          <a:lstStyle/>
          <a:p>
            <a:pPr algn="ctr"/>
            <a:r>
              <a:rPr lang="en-US" sz="6600" dirty="0">
                <a:solidFill>
                  <a:srgbClr val="FFC000"/>
                </a:solidFill>
              </a:rPr>
              <a:t>Data Structures or Data Types In Python</a:t>
            </a:r>
            <a:br>
              <a:rPr lang="en-US" sz="6600" dirty="0">
                <a:solidFill>
                  <a:srgbClr val="FFC000"/>
                </a:solidFill>
              </a:rPr>
            </a:br>
            <a:endParaRPr lang="en-US" sz="6600" b="1" dirty="0">
              <a:solidFill>
                <a:srgbClr val="FFC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E0F5C4-2086-8AF3-1F93-3651983F7EB4}"/>
              </a:ext>
            </a:extLst>
          </p:cNvPr>
          <p:cNvSpPr txBox="1"/>
          <p:nvPr/>
        </p:nvSpPr>
        <p:spPr>
          <a:xfrm>
            <a:off x="2743200" y="2400300"/>
            <a:ext cx="10744200" cy="4045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  <a:latin typeface="+mj-lt"/>
              </a:rPr>
              <a:t>[List]</a:t>
            </a: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(tuple)</a:t>
            </a: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{dict : dictionary}</a:t>
            </a:r>
          </a:p>
          <a:p>
            <a:pPr marL="685800" indent="-6858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4400" dirty="0">
                <a:solidFill>
                  <a:schemeClr val="bg1"/>
                </a:solidFill>
              </a:rPr>
              <a:t>{set}</a:t>
            </a:r>
            <a:endParaRPr lang="en-US" sz="44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86921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66" y="995044"/>
            <a:ext cx="426720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270" dirty="0"/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265" dirty="0">
                <a:solidFill>
                  <a:srgbClr val="FFFFFF"/>
                </a:solidFill>
              </a:rPr>
              <a:t> </a:t>
            </a:r>
            <a:r>
              <a:rPr spc="-110" dirty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4595558"/>
            <a:ext cx="50336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marks</a:t>
            </a:r>
            <a:r>
              <a:rPr sz="3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1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[87,</a:t>
            </a:r>
            <a:r>
              <a:rPr sz="3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64,</a:t>
            </a:r>
            <a:r>
              <a:rPr sz="3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33,</a:t>
            </a:r>
            <a:r>
              <a:rPr sz="3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95,</a:t>
            </a:r>
            <a:r>
              <a:rPr sz="3200" spc="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76]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3066" y="2240617"/>
            <a:ext cx="11257280" cy="1384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built-in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type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stores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Tahoma"/>
                <a:cs typeface="Tahoma"/>
              </a:rPr>
              <a:t>set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values</a:t>
            </a:r>
            <a:endParaRPr sz="32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20"/>
              </a:spcBef>
            </a:pP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It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can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Tahoma"/>
                <a:cs typeface="Tahoma"/>
              </a:rPr>
              <a:t>elements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different</a:t>
            </a:r>
            <a:r>
              <a:rPr sz="3200" spc="-1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types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ahoma"/>
                <a:cs typeface="Tahoma"/>
              </a:rPr>
              <a:t>(integer,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Tahoma"/>
                <a:cs typeface="Tahoma"/>
              </a:rPr>
              <a:t>float,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string,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etc.)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178738" y="4595558"/>
            <a:ext cx="390715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#marks[0],</a:t>
            </a:r>
            <a:r>
              <a:rPr sz="3200" spc="29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marks[1]..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9579" y="1844171"/>
            <a:ext cx="4260850" cy="24130"/>
          </a:xfrm>
          <a:custGeom>
            <a:avLst/>
            <a:gdLst/>
            <a:ahLst/>
            <a:cxnLst/>
            <a:rect l="l" t="t" r="r" b="b"/>
            <a:pathLst>
              <a:path w="4260850" h="24130">
                <a:moveTo>
                  <a:pt x="0" y="23549"/>
                </a:moveTo>
                <a:lnTo>
                  <a:pt x="4260449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16000" y="5956183"/>
            <a:ext cx="10539095" cy="2937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75375" algn="l"/>
              </a:tabLst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student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65" dirty="0">
                <a:solidFill>
                  <a:srgbClr val="FFFFFF"/>
                </a:solidFill>
                <a:latin typeface="Arial MT"/>
                <a:cs typeface="Arial MT"/>
              </a:rPr>
              <a:t>[”Karan”,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85,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45" dirty="0">
                <a:solidFill>
                  <a:srgbClr val="FFFFFF"/>
                </a:solidFill>
                <a:latin typeface="Arial MT"/>
                <a:cs typeface="Arial MT"/>
              </a:rPr>
              <a:t>“Delhi”]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#student[0],</a:t>
            </a:r>
            <a:r>
              <a:rPr sz="3200" spc="36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student[1]..</a:t>
            </a:r>
            <a:endParaRPr sz="3200">
              <a:latin typeface="Arial MT"/>
              <a:cs typeface="Arial MT"/>
            </a:endParaRPr>
          </a:p>
          <a:p>
            <a:pPr marL="12700" marR="3091815">
              <a:lnSpc>
                <a:spcPct val="248200"/>
              </a:lnSpc>
              <a:spcBef>
                <a:spcPts val="25"/>
              </a:spcBef>
              <a:tabLst>
                <a:tab pos="2736215" algn="l"/>
                <a:tab pos="407352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student[0]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Arial MT"/>
                <a:cs typeface="Arial MT"/>
              </a:rPr>
              <a:t>“Arjun”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#allowed</a:t>
            </a:r>
            <a:r>
              <a:rPr sz="3200" spc="-4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in</a:t>
            </a:r>
            <a:r>
              <a:rPr sz="3200" spc="-4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python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len(student)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#returns</a:t>
            </a:r>
            <a:r>
              <a:rPr sz="3200" spc="28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length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List</a:t>
            </a:r>
            <a:r>
              <a:rPr spc="-215" dirty="0"/>
              <a:t> </a:t>
            </a:r>
            <a:r>
              <a:rPr spc="-10" dirty="0"/>
              <a:t>Slicing</a:t>
            </a:r>
          </a:p>
        </p:txBody>
      </p:sp>
      <p:sp>
        <p:nvSpPr>
          <p:cNvPr id="3" name="object 3"/>
          <p:cNvSpPr/>
          <p:nvPr/>
        </p:nvSpPr>
        <p:spPr>
          <a:xfrm>
            <a:off x="989578" y="1844216"/>
            <a:ext cx="3153410" cy="23495"/>
          </a:xfrm>
          <a:custGeom>
            <a:avLst/>
            <a:gdLst/>
            <a:ahLst/>
            <a:cxnLst/>
            <a:rect l="l" t="t" r="r" b="b"/>
            <a:pathLst>
              <a:path w="3153410" h="23494">
                <a:moveTo>
                  <a:pt x="0" y="23458"/>
                </a:moveTo>
                <a:lnTo>
                  <a:pt x="3152948" y="0"/>
                </a:lnTo>
              </a:path>
            </a:pathLst>
          </a:custGeom>
          <a:ln w="4762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3066" y="2097741"/>
            <a:ext cx="13132435" cy="6690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35" dirty="0">
                <a:solidFill>
                  <a:srgbClr val="FFFFFF"/>
                </a:solidFill>
                <a:latin typeface="Tahoma"/>
                <a:cs typeface="Tahoma"/>
              </a:rPr>
              <a:t>Similar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String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Slicing</a:t>
            </a:r>
            <a:endParaRPr sz="32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2185"/>
              </a:spcBef>
            </a:pPr>
            <a:endParaRPr sz="3200" dirty="0">
              <a:latin typeface="Tahoma"/>
              <a:cs typeface="Tahoma"/>
            </a:endParaRPr>
          </a:p>
          <a:p>
            <a:pPr marL="349885">
              <a:lnSpc>
                <a:spcPct val="100000"/>
              </a:lnSpc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list_name[</a:t>
            </a:r>
            <a:r>
              <a:rPr sz="36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starting_idx</a:t>
            </a:r>
            <a:r>
              <a:rPr sz="36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70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6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ending_idx</a:t>
            </a:r>
            <a:r>
              <a:rPr sz="36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10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6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32BD15"/>
                </a:solidFill>
                <a:latin typeface="Arial MT"/>
                <a:cs typeface="Arial MT"/>
              </a:rPr>
              <a:t>#ending</a:t>
            </a:r>
            <a:r>
              <a:rPr sz="36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32BD15"/>
                </a:solidFill>
                <a:latin typeface="Arial MT"/>
                <a:cs typeface="Arial MT"/>
              </a:rPr>
              <a:t>idx</a:t>
            </a:r>
            <a:r>
              <a:rPr sz="36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600" spc="-35" dirty="0">
                <a:solidFill>
                  <a:srgbClr val="32BD15"/>
                </a:solidFill>
                <a:latin typeface="Arial MT"/>
                <a:cs typeface="Arial MT"/>
              </a:rPr>
              <a:t>is</a:t>
            </a:r>
            <a:r>
              <a:rPr sz="36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32BD15"/>
                </a:solidFill>
                <a:latin typeface="Arial MT"/>
                <a:cs typeface="Arial MT"/>
              </a:rPr>
              <a:t>not</a:t>
            </a:r>
            <a:r>
              <a:rPr sz="36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600" spc="-10" dirty="0">
                <a:solidFill>
                  <a:srgbClr val="32BD15"/>
                </a:solidFill>
                <a:latin typeface="Arial MT"/>
                <a:cs typeface="Arial MT"/>
              </a:rPr>
              <a:t>included</a:t>
            </a: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3600" dirty="0">
              <a:latin typeface="Arial MT"/>
              <a:cs typeface="Arial MT"/>
            </a:endParaRPr>
          </a:p>
          <a:p>
            <a:pPr marL="349885">
              <a:lnSpc>
                <a:spcPct val="100000"/>
              </a:lnSpc>
            </a:pPr>
            <a:r>
              <a:rPr sz="3200" b="1" i="1" spc="-80" dirty="0">
                <a:solidFill>
                  <a:srgbClr val="3BE2EC"/>
                </a:solidFill>
                <a:latin typeface="Arial"/>
                <a:cs typeface="Arial"/>
              </a:rPr>
              <a:t>marks</a:t>
            </a:r>
            <a:r>
              <a:rPr sz="3200" b="1" i="1" spc="-20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b="1" i="1" spc="90" dirty="0">
                <a:solidFill>
                  <a:srgbClr val="3BE2EC"/>
                </a:solidFill>
                <a:latin typeface="Arial"/>
                <a:cs typeface="Arial"/>
              </a:rPr>
              <a:t>=</a:t>
            </a:r>
            <a:r>
              <a:rPr sz="3200" b="1" i="1" spc="-20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solidFill>
                  <a:srgbClr val="3BE2EC"/>
                </a:solidFill>
                <a:latin typeface="Arial"/>
                <a:cs typeface="Arial"/>
              </a:rPr>
              <a:t>[87,</a:t>
            </a:r>
            <a:r>
              <a:rPr sz="3200" b="1" i="1" spc="-15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b="1" i="1" spc="75" dirty="0">
                <a:solidFill>
                  <a:srgbClr val="3BE2EC"/>
                </a:solidFill>
                <a:latin typeface="Arial"/>
                <a:cs typeface="Arial"/>
              </a:rPr>
              <a:t>64,</a:t>
            </a:r>
            <a:r>
              <a:rPr sz="3200" b="1" i="1" spc="-20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b="1" i="1" spc="75" dirty="0">
                <a:solidFill>
                  <a:srgbClr val="3BE2EC"/>
                </a:solidFill>
                <a:latin typeface="Arial"/>
                <a:cs typeface="Arial"/>
              </a:rPr>
              <a:t>33,</a:t>
            </a:r>
            <a:r>
              <a:rPr sz="3200" b="1" i="1" spc="-15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b="1" i="1" spc="75" dirty="0">
                <a:solidFill>
                  <a:srgbClr val="3BE2EC"/>
                </a:solidFill>
                <a:latin typeface="Arial"/>
                <a:cs typeface="Arial"/>
              </a:rPr>
              <a:t>95,</a:t>
            </a:r>
            <a:r>
              <a:rPr sz="3200" b="1" i="1" spc="-20" dirty="0">
                <a:solidFill>
                  <a:srgbClr val="3BE2EC"/>
                </a:solidFill>
                <a:latin typeface="Arial"/>
                <a:cs typeface="Arial"/>
              </a:rPr>
              <a:t> </a:t>
            </a:r>
            <a:r>
              <a:rPr sz="3200" b="1" i="1" spc="-25" dirty="0">
                <a:solidFill>
                  <a:srgbClr val="3BE2EC"/>
                </a:solidFill>
                <a:latin typeface="Arial"/>
                <a:cs typeface="Arial"/>
              </a:rPr>
              <a:t>76]</a:t>
            </a:r>
            <a:endParaRPr sz="3200" dirty="0">
              <a:latin typeface="Arial"/>
              <a:cs typeface="Arial"/>
            </a:endParaRPr>
          </a:p>
          <a:p>
            <a:pPr marL="340360">
              <a:lnSpc>
                <a:spcPct val="100000"/>
              </a:lnSpc>
              <a:spcBef>
                <a:spcPts val="3440"/>
              </a:spcBef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marks[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is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[64,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33,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95]</a:t>
            </a:r>
            <a:endParaRPr sz="3200" dirty="0">
              <a:latin typeface="Arial MT"/>
              <a:cs typeface="Arial MT"/>
            </a:endParaRPr>
          </a:p>
          <a:p>
            <a:pPr marL="340360">
              <a:lnSpc>
                <a:spcPct val="100000"/>
              </a:lnSpc>
              <a:spcBef>
                <a:spcPts val="3440"/>
              </a:spcBef>
              <a:tabLst>
                <a:tab pos="1758950" algn="l"/>
              </a:tabLst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marks[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4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6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25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marks[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0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30" dirty="0">
                <a:solidFill>
                  <a:srgbClr val="FFFFFF"/>
                </a:solidFill>
                <a:latin typeface="Arial MT"/>
                <a:cs typeface="Arial MT"/>
              </a:rPr>
              <a:t>4]</a:t>
            </a:r>
            <a:endParaRPr sz="3200" dirty="0">
              <a:latin typeface="Arial MT"/>
              <a:cs typeface="Arial MT"/>
            </a:endParaRPr>
          </a:p>
          <a:p>
            <a:pPr marL="349885" marR="4718050" indent="-9525">
              <a:lnSpc>
                <a:spcPct val="189600"/>
              </a:lnSpc>
              <a:tabLst>
                <a:tab pos="2336165" algn="l"/>
              </a:tabLst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marks[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2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2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60" dirty="0">
                <a:solidFill>
                  <a:srgbClr val="FFFFFF"/>
                </a:solidFill>
                <a:latin typeface="Arial MT"/>
                <a:cs typeface="Arial MT"/>
              </a:rPr>
              <a:t>same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25" dirty="0">
                <a:solidFill>
                  <a:srgbClr val="FFFFFF"/>
                </a:solidFill>
                <a:latin typeface="Arial MT"/>
                <a:cs typeface="Arial MT"/>
              </a:rPr>
              <a:t>as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marks[</a:t>
            </a: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len(marks)</a:t>
            </a: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45" dirty="0">
                <a:solidFill>
                  <a:srgbClr val="FFFFFF"/>
                </a:solidFill>
                <a:latin typeface="Arial MT"/>
                <a:cs typeface="Arial MT"/>
              </a:rPr>
              <a:t>]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marks[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2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5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225" dirty="0">
                <a:solidFill>
                  <a:srgbClr val="FFFFFF"/>
                </a:solidFill>
                <a:latin typeface="Arial MT"/>
                <a:cs typeface="Arial MT"/>
              </a:rPr>
              <a:t>-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]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[33,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95]</a:t>
            </a:r>
            <a:endParaRPr sz="3200" dirty="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computer programming language with text&#10;&#10;AI-generated content may be incorrect.">
            <a:extLst>
              <a:ext uri="{FF2B5EF4-FFF2-40B4-BE49-F238E27FC236}">
                <a16:creationId xmlns:a16="http://schemas.microsoft.com/office/drawing/2014/main" id="{525192F3-EA36-6B42-C860-B4AF50C120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83045"/>
            <a:ext cx="16154400" cy="992090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hart of birds on a wire&#10;&#10;AI-generated content may be incorrect.">
            <a:extLst>
              <a:ext uri="{FF2B5EF4-FFF2-40B4-BE49-F238E27FC236}">
                <a16:creationId xmlns:a16="http://schemas.microsoft.com/office/drawing/2014/main" id="{8A2A2E48-073C-1684-3469-239F2068B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700" y="139157"/>
            <a:ext cx="8724900" cy="1014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064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and white text on a black background&#10;&#10;AI-generated content may be incorrect.">
            <a:extLst>
              <a:ext uri="{FF2B5EF4-FFF2-40B4-BE49-F238E27FC236}">
                <a16:creationId xmlns:a16="http://schemas.microsoft.com/office/drawing/2014/main" id="{D75CCC8E-B429-FD5E-5E08-B9266CE92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12" y="419100"/>
            <a:ext cx="17785975" cy="944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57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1F8149-F977-4DDB-DACE-F82F9A3DD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7672053-78F1-D149-31EF-E5EFBE4726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List</a:t>
            </a:r>
            <a:r>
              <a:rPr spc="-215" dirty="0">
                <a:solidFill>
                  <a:srgbClr val="FFFFFF"/>
                </a:solidFill>
              </a:rPr>
              <a:t> </a:t>
            </a:r>
            <a:r>
              <a:rPr spc="-80" dirty="0"/>
              <a:t>Methods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3FED9DE6-044F-CFED-90A2-EC7FB1144993}"/>
              </a:ext>
            </a:extLst>
          </p:cNvPr>
          <p:cNvSpPr txBox="1"/>
          <p:nvPr/>
        </p:nvSpPr>
        <p:spPr>
          <a:xfrm>
            <a:off x="1016000" y="3714177"/>
            <a:ext cx="79241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64460" algn="l"/>
              </a:tabLst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list.</a:t>
            </a:r>
            <a:r>
              <a:rPr sz="3200" b="1" spc="-10" dirty="0">
                <a:solidFill>
                  <a:srgbClr val="3BE2EC"/>
                </a:solidFill>
                <a:latin typeface="Arial"/>
                <a:cs typeface="Arial"/>
              </a:rPr>
              <a:t>append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(4)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#adds</a:t>
            </a:r>
            <a:r>
              <a:rPr sz="3200" spc="-13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40" dirty="0">
                <a:solidFill>
                  <a:srgbClr val="32BD15"/>
                </a:solidFill>
                <a:latin typeface="Arial MT"/>
                <a:cs typeface="Arial MT"/>
              </a:rPr>
              <a:t>one</a:t>
            </a:r>
            <a:r>
              <a:rPr sz="32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element</a:t>
            </a:r>
            <a:r>
              <a:rPr sz="32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at</a:t>
            </a:r>
            <a:r>
              <a:rPr sz="3200" spc="-13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the</a:t>
            </a:r>
            <a:r>
              <a:rPr sz="32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end</a:t>
            </a:r>
            <a:endParaRPr sz="3200" dirty="0">
              <a:latin typeface="Arial MT"/>
              <a:cs typeface="Arial MT"/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9B878A76-9C87-2CF8-0A8C-3A1975F8508E}"/>
              </a:ext>
            </a:extLst>
          </p:cNvPr>
          <p:cNvSpPr txBox="1"/>
          <p:nvPr/>
        </p:nvSpPr>
        <p:spPr>
          <a:xfrm>
            <a:off x="1016000" y="2498397"/>
            <a:ext cx="26930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list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65" dirty="0">
                <a:solidFill>
                  <a:srgbClr val="FFFFFF"/>
                </a:solidFill>
                <a:latin typeface="Arial MT"/>
                <a:cs typeface="Arial MT"/>
              </a:rPr>
              <a:t>[2,</a:t>
            </a:r>
            <a:r>
              <a:rPr sz="36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60" dirty="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35" dirty="0">
                <a:solidFill>
                  <a:srgbClr val="FFFFFF"/>
                </a:solidFill>
                <a:latin typeface="Arial MT"/>
                <a:cs typeface="Arial MT"/>
              </a:rPr>
              <a:t>3]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3359C1E-2441-CF81-1AEE-00D8B743AC77}"/>
              </a:ext>
            </a:extLst>
          </p:cNvPr>
          <p:cNvSpPr/>
          <p:nvPr/>
        </p:nvSpPr>
        <p:spPr>
          <a:xfrm>
            <a:off x="989578" y="1844192"/>
            <a:ext cx="3699510" cy="24130"/>
          </a:xfrm>
          <a:custGeom>
            <a:avLst/>
            <a:gdLst/>
            <a:ahLst/>
            <a:cxnLst/>
            <a:rect l="l" t="t" r="r" b="b"/>
            <a:pathLst>
              <a:path w="3699510" h="24130">
                <a:moveTo>
                  <a:pt x="0" y="23509"/>
                </a:moveTo>
                <a:lnTo>
                  <a:pt x="3699266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>
            <a:extLst>
              <a:ext uri="{FF2B5EF4-FFF2-40B4-BE49-F238E27FC236}">
                <a16:creationId xmlns:a16="http://schemas.microsoft.com/office/drawing/2014/main" id="{DCD4CE88-1BBB-9761-4C51-D069D77BE28A}"/>
              </a:ext>
            </a:extLst>
          </p:cNvPr>
          <p:cNvSpPr txBox="1"/>
          <p:nvPr/>
        </p:nvSpPr>
        <p:spPr>
          <a:xfrm>
            <a:off x="9464674" y="3676077"/>
            <a:ext cx="191325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[2,</a:t>
            </a: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3,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50" dirty="0">
                <a:solidFill>
                  <a:srgbClr val="FFFFFF"/>
                </a:solidFill>
                <a:latin typeface="Arial"/>
                <a:cs typeface="Arial"/>
              </a:rPr>
              <a:t>4]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A6903B8-3CB0-B48E-EFC0-BF80D2762186}"/>
              </a:ext>
            </a:extLst>
          </p:cNvPr>
          <p:cNvSpPr txBox="1"/>
          <p:nvPr/>
        </p:nvSpPr>
        <p:spPr>
          <a:xfrm>
            <a:off x="10421301" y="5841304"/>
            <a:ext cx="14465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[3,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2,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50" dirty="0">
                <a:solidFill>
                  <a:srgbClr val="FFFFFF"/>
                </a:solidFill>
                <a:latin typeface="Arial"/>
                <a:cs typeface="Arial"/>
              </a:rPr>
              <a:t>1]</a:t>
            </a:r>
            <a:endParaRPr sz="3200">
              <a:latin typeface="Arial"/>
              <a:cs typeface="Arial"/>
            </a:endParaRPr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8289EB9-0B27-C35D-1449-FBE1BF9E23D1}"/>
              </a:ext>
            </a:extLst>
          </p:cNvPr>
          <p:cNvSpPr txBox="1"/>
          <p:nvPr/>
        </p:nvSpPr>
        <p:spPr>
          <a:xfrm>
            <a:off x="1016000" y="4838766"/>
            <a:ext cx="9095740" cy="401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908810" algn="l"/>
                <a:tab pos="7186295" algn="l"/>
              </a:tabLst>
            </a:pP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list.</a:t>
            </a:r>
            <a:r>
              <a:rPr sz="3200" b="1" spc="-35" dirty="0">
                <a:solidFill>
                  <a:srgbClr val="3BE2EC"/>
                </a:solidFill>
                <a:latin typeface="Arial"/>
                <a:cs typeface="Arial"/>
              </a:rPr>
              <a:t>sort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#sorts</a:t>
            </a:r>
            <a:r>
              <a:rPr sz="3200" spc="-1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in</a:t>
            </a:r>
            <a:r>
              <a:rPr sz="3200" spc="-1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ascending</a:t>
            </a:r>
            <a:r>
              <a:rPr sz="3200" spc="-1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order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	</a:t>
            </a: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[1,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2,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50" dirty="0">
                <a:solidFill>
                  <a:srgbClr val="FFFFFF"/>
                </a:solidFill>
                <a:latin typeface="Arial"/>
                <a:cs typeface="Arial"/>
              </a:rPr>
              <a:t>3]</a:t>
            </a:r>
            <a:endParaRPr sz="3200" dirty="0">
              <a:latin typeface="Arial"/>
              <a:cs typeface="Arial"/>
            </a:endParaRPr>
          </a:p>
          <a:p>
            <a:pPr marL="12700" marR="5080">
              <a:lnSpc>
                <a:spcPct val="230700"/>
              </a:lnSpc>
              <a:spcBef>
                <a:spcPts val="670"/>
              </a:spcBef>
              <a:tabLst>
                <a:tab pos="2526030" algn="l"/>
                <a:tab pos="4376420" algn="l"/>
                <a:tab pos="5471160" algn="l"/>
              </a:tabLst>
            </a:pP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list.</a:t>
            </a:r>
            <a:r>
              <a:rPr sz="3200" b="1" spc="-45" dirty="0">
                <a:solidFill>
                  <a:srgbClr val="3BE2EC"/>
                </a:solidFill>
                <a:latin typeface="Arial"/>
                <a:cs typeface="Arial"/>
              </a:rPr>
              <a:t>sort</a:t>
            </a:r>
            <a:r>
              <a:rPr sz="3200" b="1" spc="-4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reverse=True</a:t>
            </a:r>
            <a:r>
              <a:rPr sz="32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#sorts</a:t>
            </a:r>
            <a:r>
              <a:rPr sz="3200" spc="-3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in</a:t>
            </a:r>
            <a:r>
              <a:rPr sz="3200" spc="-3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85" dirty="0">
                <a:solidFill>
                  <a:srgbClr val="32BD15"/>
                </a:solidFill>
                <a:latin typeface="Arial MT"/>
                <a:cs typeface="Arial MT"/>
              </a:rPr>
              <a:t>descending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order 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list.</a:t>
            </a:r>
            <a:r>
              <a:rPr sz="3200" b="1" spc="-75" dirty="0">
                <a:solidFill>
                  <a:srgbClr val="3BE2EC"/>
                </a:solidFill>
                <a:latin typeface="Arial"/>
                <a:cs typeface="Arial"/>
              </a:rPr>
              <a:t>reverse</a:t>
            </a:r>
            <a:r>
              <a:rPr sz="3200" b="1" spc="-75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spc="-40" dirty="0">
                <a:solidFill>
                  <a:srgbClr val="32BD15"/>
                </a:solidFill>
                <a:latin typeface="Arial MT"/>
                <a:cs typeface="Arial MT"/>
              </a:rPr>
              <a:t>#reverses</a:t>
            </a:r>
            <a:r>
              <a:rPr sz="3200" spc="-15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list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	</a:t>
            </a: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[3,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1,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50" dirty="0">
                <a:solidFill>
                  <a:srgbClr val="FFFFFF"/>
                </a:solidFill>
                <a:latin typeface="Arial"/>
                <a:cs typeface="Arial"/>
              </a:rPr>
              <a:t>2]</a:t>
            </a:r>
            <a:endParaRPr sz="32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635"/>
              </a:spcBef>
            </a:pPr>
            <a:endParaRPr sz="3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3382645" algn="l"/>
              </a:tabLst>
            </a:pP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list.</a:t>
            </a:r>
            <a:r>
              <a:rPr sz="3200" b="1" spc="-45" dirty="0">
                <a:solidFill>
                  <a:srgbClr val="3BE2EC"/>
                </a:solidFill>
                <a:latin typeface="Arial"/>
                <a:cs typeface="Arial"/>
              </a:rPr>
              <a:t>insert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idx,</a:t>
            </a:r>
            <a:r>
              <a:rPr sz="3200" spc="-1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32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#insert</a:t>
            </a:r>
            <a:r>
              <a:rPr sz="3200" spc="-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element</a:t>
            </a:r>
            <a:r>
              <a:rPr sz="3200" spc="-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at</a:t>
            </a:r>
            <a:r>
              <a:rPr sz="3200" spc="-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index</a:t>
            </a:r>
            <a:endParaRPr sz="3200" dirty="0">
              <a:latin typeface="Arial MT"/>
              <a:cs typeface="Arial MT"/>
            </a:endParaRPr>
          </a:p>
        </p:txBody>
      </p:sp>
    </p:spTree>
    <p:extLst>
      <p:ext uri="{BB962C8B-B14F-4D97-AF65-F5344CB8AC3E}">
        <p14:creationId xmlns:p14="http://schemas.microsoft.com/office/powerpoint/2010/main" val="7086501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>
                <a:solidFill>
                  <a:srgbClr val="FFFFFF"/>
                </a:solidFill>
              </a:rPr>
              <a:t>List</a:t>
            </a:r>
            <a:r>
              <a:rPr spc="-215" dirty="0">
                <a:solidFill>
                  <a:srgbClr val="FFFFFF"/>
                </a:solidFill>
              </a:rPr>
              <a:t> </a:t>
            </a:r>
            <a:r>
              <a:rPr spc="-80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3714179"/>
            <a:ext cx="93135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73350" algn="l"/>
              </a:tabLst>
            </a:pP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list.</a:t>
            </a:r>
            <a:r>
              <a:rPr sz="3200" b="1" spc="-10" dirty="0">
                <a:solidFill>
                  <a:srgbClr val="3BE2EC"/>
                </a:solidFill>
                <a:latin typeface="Arial"/>
                <a:cs typeface="Arial"/>
              </a:rPr>
              <a:t>remove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3200" b="1" spc="-1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#removes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32BD15"/>
                </a:solidFill>
                <a:latin typeface="Arial MT"/>
                <a:cs typeface="Arial MT"/>
              </a:rPr>
              <a:t>first</a:t>
            </a:r>
            <a:r>
              <a:rPr sz="3200" spc="-9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occurrence</a:t>
            </a:r>
            <a:r>
              <a:rPr sz="3200" spc="-9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32BD15"/>
                </a:solidFill>
                <a:latin typeface="Arial MT"/>
                <a:cs typeface="Arial MT"/>
              </a:rPr>
              <a:t>of</a:t>
            </a:r>
            <a:r>
              <a:rPr sz="3200" spc="-10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element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2498396"/>
            <a:ext cx="3209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list</a:t>
            </a:r>
            <a:r>
              <a:rPr sz="36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65" dirty="0">
                <a:solidFill>
                  <a:srgbClr val="FFFFFF"/>
                </a:solidFill>
                <a:latin typeface="Arial MT"/>
                <a:cs typeface="Arial MT"/>
              </a:rPr>
              <a:t>[2,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60" dirty="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60" dirty="0">
                <a:solidFill>
                  <a:srgbClr val="FFFFFF"/>
                </a:solidFill>
                <a:latin typeface="Arial MT"/>
                <a:cs typeface="Arial MT"/>
              </a:rPr>
              <a:t>3,</a:t>
            </a:r>
            <a:r>
              <a:rPr sz="36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35" dirty="0">
                <a:solidFill>
                  <a:srgbClr val="FFFFFF"/>
                </a:solidFill>
                <a:latin typeface="Arial MT"/>
                <a:cs typeface="Arial MT"/>
              </a:rPr>
              <a:t>1]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4838766"/>
            <a:ext cx="68370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487930" algn="l"/>
              </a:tabLst>
            </a:pP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list.</a:t>
            </a:r>
            <a:r>
              <a:rPr sz="3200" b="1" spc="-50" dirty="0">
                <a:solidFill>
                  <a:srgbClr val="3BE2EC"/>
                </a:solidFill>
                <a:latin typeface="Arial"/>
                <a:cs typeface="Arial"/>
              </a:rPr>
              <a:t>pop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idx</a:t>
            </a:r>
            <a:r>
              <a:rPr sz="3200" spc="-1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spc="-20" dirty="0">
                <a:solidFill>
                  <a:srgbClr val="32BD15"/>
                </a:solidFill>
                <a:latin typeface="Arial MT"/>
                <a:cs typeface="Arial MT"/>
              </a:rPr>
              <a:t>#removes</a:t>
            </a:r>
            <a:r>
              <a:rPr sz="32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element</a:t>
            </a:r>
            <a:r>
              <a:rPr sz="3200" spc="-12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at</a:t>
            </a:r>
            <a:r>
              <a:rPr sz="3200" spc="-13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32BD15"/>
                </a:solidFill>
                <a:latin typeface="Arial MT"/>
                <a:cs typeface="Arial MT"/>
              </a:rPr>
              <a:t>idx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989578" y="1844190"/>
            <a:ext cx="3699510" cy="24130"/>
          </a:xfrm>
          <a:custGeom>
            <a:avLst/>
            <a:gdLst/>
            <a:ahLst/>
            <a:cxnLst/>
            <a:rect l="l" t="t" r="r" b="b"/>
            <a:pathLst>
              <a:path w="3699510" h="24130">
                <a:moveTo>
                  <a:pt x="0" y="23509"/>
                </a:moveTo>
                <a:lnTo>
                  <a:pt x="3699266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765486" y="3714179"/>
            <a:ext cx="144653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[2,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3,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50" dirty="0">
                <a:solidFill>
                  <a:srgbClr val="FFFFFF"/>
                </a:solidFill>
                <a:latin typeface="Arial"/>
                <a:cs typeface="Arial"/>
              </a:rPr>
              <a:t>1]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95" dirty="0"/>
              <a:t>Tuples</a:t>
            </a:r>
            <a:r>
              <a:rPr spc="-325" dirty="0"/>
              <a:t> </a:t>
            </a:r>
            <a:r>
              <a:rPr dirty="0">
                <a:solidFill>
                  <a:srgbClr val="FFFFFF"/>
                </a:solidFill>
              </a:rPr>
              <a:t>in</a:t>
            </a:r>
            <a:r>
              <a:rPr spc="-320" dirty="0">
                <a:solidFill>
                  <a:srgbClr val="FFFFFF"/>
                </a:solidFill>
              </a:rPr>
              <a:t> </a:t>
            </a:r>
            <a:r>
              <a:rPr spc="-105" dirty="0">
                <a:solidFill>
                  <a:srgbClr val="FFFFFF"/>
                </a:solidFill>
              </a:rPr>
              <a:t>Python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53066" y="2240620"/>
            <a:ext cx="1191704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built-in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type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that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lets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Tahoma"/>
                <a:cs typeface="Tahoma"/>
              </a:rPr>
              <a:t>us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5" dirty="0">
                <a:solidFill>
                  <a:srgbClr val="FFFFFF"/>
                </a:solidFill>
                <a:latin typeface="Tahoma"/>
                <a:cs typeface="Tahoma"/>
              </a:rPr>
              <a:t>create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20" dirty="0">
                <a:solidFill>
                  <a:srgbClr val="3BE2EC"/>
                </a:solidFill>
                <a:latin typeface="Tahoma"/>
                <a:cs typeface="Tahoma"/>
              </a:rPr>
              <a:t>immutable</a:t>
            </a:r>
            <a:r>
              <a:rPr sz="3200" spc="-185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110" dirty="0">
                <a:solidFill>
                  <a:srgbClr val="FFFFFF"/>
                </a:solidFill>
                <a:latin typeface="Tahoma"/>
                <a:cs typeface="Tahoma"/>
              </a:rPr>
              <a:t>sequences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values.</a:t>
            </a:r>
            <a:endParaRPr sz="32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3922005"/>
            <a:ext cx="7825105" cy="16732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384">
              <a:lnSpc>
                <a:spcPct val="100000"/>
              </a:lnSpc>
              <a:spcBef>
                <a:spcPts val="100"/>
              </a:spcBef>
              <a:tabLst>
                <a:tab pos="492823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tup</a:t>
            </a:r>
            <a:r>
              <a:rPr sz="3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(87,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64,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33,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95,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76)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spc="85" dirty="0">
                <a:solidFill>
                  <a:srgbClr val="32BD15"/>
                </a:solidFill>
                <a:latin typeface="Arial MT"/>
                <a:cs typeface="Arial MT"/>
              </a:rPr>
              <a:t>#tup[0],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32BD15"/>
                </a:solidFill>
                <a:latin typeface="Arial MT"/>
                <a:cs typeface="Arial MT"/>
              </a:rPr>
              <a:t>tup[1]..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610"/>
              </a:spcBef>
            </a:pP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2644775" algn="l"/>
              </a:tabLst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tup[0]</a:t>
            </a:r>
            <a:r>
              <a:rPr sz="3200" spc="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43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#NOT</a:t>
            </a:r>
            <a:r>
              <a:rPr sz="3200" spc="-7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30" dirty="0">
                <a:solidFill>
                  <a:srgbClr val="32BD15"/>
                </a:solidFill>
                <a:latin typeface="Arial MT"/>
                <a:cs typeface="Arial MT"/>
              </a:rPr>
              <a:t>allowed</a:t>
            </a:r>
            <a:r>
              <a:rPr sz="3200" spc="-7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in</a:t>
            </a:r>
            <a:r>
              <a:rPr sz="3200" spc="-7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python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989579" y="1844158"/>
            <a:ext cx="4709795" cy="24130"/>
          </a:xfrm>
          <a:custGeom>
            <a:avLst/>
            <a:gdLst/>
            <a:ahLst/>
            <a:cxnLst/>
            <a:rect l="l" t="t" r="r" b="b"/>
            <a:pathLst>
              <a:path w="4709795" h="24130">
                <a:moveTo>
                  <a:pt x="0" y="23574"/>
                </a:moveTo>
                <a:lnTo>
                  <a:pt x="4709485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016000" y="6787574"/>
            <a:ext cx="2904490" cy="2266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tup1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00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-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3200">
              <a:latin typeface="Arial MT"/>
              <a:cs typeface="Arial MT"/>
            </a:endParaRPr>
          </a:p>
          <a:p>
            <a:pPr marL="32384">
              <a:lnSpc>
                <a:spcPct val="100000"/>
              </a:lnSpc>
              <a:spcBef>
                <a:spcPts val="306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tup2</a:t>
            </a:r>
            <a:r>
              <a:rPr sz="3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00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sz="3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3200">
              <a:latin typeface="Arial MT"/>
              <a:cs typeface="Arial MT"/>
            </a:endParaRPr>
          </a:p>
          <a:p>
            <a:pPr marL="32384">
              <a:lnSpc>
                <a:spcPct val="100000"/>
              </a:lnSpc>
              <a:spcBef>
                <a:spcPts val="306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tup3</a:t>
            </a:r>
            <a:r>
              <a:rPr sz="3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90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00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2,</a:t>
            </a:r>
            <a:r>
              <a:rPr sz="3200" spc="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3</a:t>
            </a:r>
            <a:r>
              <a:rPr sz="3200" spc="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35" dirty="0">
                <a:solidFill>
                  <a:srgbClr val="FFFFFF"/>
                </a:solidFill>
              </a:rPr>
              <a:t>Tuple</a:t>
            </a:r>
            <a:r>
              <a:rPr spc="-325" dirty="0">
                <a:solidFill>
                  <a:srgbClr val="FFFFFF"/>
                </a:solidFill>
              </a:rPr>
              <a:t> </a:t>
            </a:r>
            <a:r>
              <a:rPr spc="-75" dirty="0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498397"/>
            <a:ext cx="11957685" cy="2853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tup</a:t>
            </a:r>
            <a:r>
              <a:rPr sz="36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105" dirty="0">
                <a:solidFill>
                  <a:srgbClr val="FFFFFF"/>
                </a:solidFill>
                <a:latin typeface="Arial MT"/>
                <a:cs typeface="Arial MT"/>
              </a:rPr>
              <a:t>=</a:t>
            </a:r>
            <a:r>
              <a:rPr sz="3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dirty="0">
                <a:solidFill>
                  <a:srgbClr val="FFFFFF"/>
                </a:solidFill>
                <a:latin typeface="Arial MT"/>
                <a:cs typeface="Arial MT"/>
              </a:rPr>
              <a:t>(2,</a:t>
            </a:r>
            <a:r>
              <a:rPr sz="3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60" dirty="0">
                <a:solidFill>
                  <a:srgbClr val="FFFFFF"/>
                </a:solidFill>
                <a:latin typeface="Arial MT"/>
                <a:cs typeface="Arial MT"/>
              </a:rPr>
              <a:t>1,</a:t>
            </a:r>
            <a:r>
              <a:rPr sz="3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60" dirty="0">
                <a:solidFill>
                  <a:srgbClr val="FFFFFF"/>
                </a:solidFill>
                <a:latin typeface="Arial MT"/>
                <a:cs typeface="Arial MT"/>
              </a:rPr>
              <a:t>3,</a:t>
            </a:r>
            <a:r>
              <a:rPr sz="36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600" spc="-25" dirty="0">
                <a:solidFill>
                  <a:srgbClr val="FFFFFF"/>
                </a:solidFill>
                <a:latin typeface="Arial MT"/>
                <a:cs typeface="Arial MT"/>
              </a:rPr>
              <a:t>1)</a:t>
            </a:r>
            <a:endParaRPr sz="36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10"/>
              </a:spcBef>
            </a:pPr>
            <a:endParaRPr sz="36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tabLst>
                <a:tab pos="2667635" algn="l"/>
                <a:tab pos="9114155" algn="l"/>
              </a:tabLst>
            </a:pP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tup.</a:t>
            </a:r>
            <a:r>
              <a:rPr sz="3200" b="1" spc="-50" dirty="0">
                <a:solidFill>
                  <a:srgbClr val="3BE2EC"/>
                </a:solidFill>
                <a:latin typeface="Arial"/>
                <a:cs typeface="Arial"/>
              </a:rPr>
              <a:t>index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3200" spc="-1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#returns</a:t>
            </a:r>
            <a:r>
              <a:rPr sz="3200" spc="20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55" dirty="0">
                <a:solidFill>
                  <a:srgbClr val="32BD15"/>
                </a:solidFill>
                <a:latin typeface="Arial MT"/>
                <a:cs typeface="Arial MT"/>
              </a:rPr>
              <a:t>index</a:t>
            </a:r>
            <a:r>
              <a:rPr sz="3200" spc="2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32BD15"/>
                </a:solidFill>
                <a:latin typeface="Arial MT"/>
                <a:cs typeface="Arial MT"/>
              </a:rPr>
              <a:t>of</a:t>
            </a:r>
            <a:r>
              <a:rPr sz="3200" spc="2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50" dirty="0">
                <a:solidFill>
                  <a:srgbClr val="32BD15"/>
                </a:solidFill>
                <a:latin typeface="Arial MT"/>
                <a:cs typeface="Arial MT"/>
              </a:rPr>
              <a:t>first</a:t>
            </a:r>
            <a:r>
              <a:rPr sz="3200" spc="2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occurrence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	</a:t>
            </a: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tup.index(1)</a:t>
            </a:r>
            <a:r>
              <a:rPr sz="3200" i="1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200" i="1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35"/>
              </a:spcBef>
            </a:pP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2703830" algn="l"/>
                <a:tab pos="7950834" algn="l"/>
              </a:tabLst>
            </a:pP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tup.</a:t>
            </a:r>
            <a:r>
              <a:rPr sz="3200" b="1" spc="-50" dirty="0">
                <a:solidFill>
                  <a:srgbClr val="3BE2EC"/>
                </a:solidFill>
                <a:latin typeface="Arial"/>
                <a:cs typeface="Arial"/>
              </a:rPr>
              <a:t>count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b="1" spc="-1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el</a:t>
            </a:r>
            <a:r>
              <a:rPr sz="3200" spc="-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r>
              <a:rPr sz="3200" b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#counts</a:t>
            </a:r>
            <a:r>
              <a:rPr sz="3200" spc="6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total</a:t>
            </a:r>
            <a:r>
              <a:rPr sz="3200" spc="65" dirty="0">
                <a:solidFill>
                  <a:srgbClr val="32BD15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32BD15"/>
                </a:solidFill>
                <a:latin typeface="Arial MT"/>
                <a:cs typeface="Arial MT"/>
              </a:rPr>
              <a:t>occurrences</a:t>
            </a:r>
            <a:r>
              <a:rPr sz="3200" dirty="0">
                <a:solidFill>
                  <a:srgbClr val="32BD15"/>
                </a:solidFill>
                <a:latin typeface="Arial MT"/>
                <a:cs typeface="Arial MT"/>
              </a:rPr>
              <a:t>	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tup.count(1)</a:t>
            </a:r>
            <a:r>
              <a:rPr sz="3200" i="1" spc="-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3200" i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989579" y="1844173"/>
            <a:ext cx="4189729" cy="24130"/>
          </a:xfrm>
          <a:custGeom>
            <a:avLst/>
            <a:gdLst/>
            <a:ahLst/>
            <a:cxnLst/>
            <a:rect l="l" t="t" r="r" b="b"/>
            <a:pathLst>
              <a:path w="4189729" h="24130">
                <a:moveTo>
                  <a:pt x="0" y="23544"/>
                </a:moveTo>
                <a:lnTo>
                  <a:pt x="4189123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0BE58C60-CBDD-73D1-61A2-E3C1331410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92" t="10699" r="3890" b="9657"/>
          <a:stretch>
            <a:fillRect/>
          </a:stretch>
        </p:blipFill>
        <p:spPr>
          <a:xfrm>
            <a:off x="685800" y="2247900"/>
            <a:ext cx="16916399" cy="524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540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2912" y="2023538"/>
            <a:ext cx="1415796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35" dirty="0">
                <a:solidFill>
                  <a:srgbClr val="FFFFFF"/>
                </a:solidFill>
                <a:latin typeface="Tahoma"/>
                <a:cs typeface="Tahoma"/>
              </a:rPr>
              <a:t>WAP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ask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Tahoma"/>
                <a:cs typeface="Tahoma"/>
              </a:rPr>
              <a:t>user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enter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60" dirty="0">
                <a:solidFill>
                  <a:srgbClr val="FFFFFF"/>
                </a:solidFill>
                <a:latin typeface="Tahoma"/>
                <a:cs typeface="Tahoma"/>
              </a:rPr>
              <a:t>names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their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0" dirty="0">
                <a:solidFill>
                  <a:srgbClr val="FFFFFF"/>
                </a:solidFill>
                <a:latin typeface="Tahoma"/>
                <a:cs typeface="Tahoma"/>
              </a:rPr>
              <a:t>favorite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Tahoma"/>
                <a:cs typeface="Tahoma"/>
              </a:rPr>
              <a:t>movies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45" dirty="0">
                <a:solidFill>
                  <a:srgbClr val="FFFFFF"/>
                </a:solidFill>
                <a:latin typeface="Tahoma"/>
                <a:cs typeface="Tahoma"/>
              </a:rPr>
              <a:t>them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Tahoma"/>
                <a:cs typeface="Tahoma"/>
              </a:rPr>
              <a:t>list.</a:t>
            </a:r>
            <a:endParaRPr sz="3200">
              <a:latin typeface="Tahoma"/>
              <a:cs typeface="Tahoma"/>
            </a:endParaRP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30BB983C-9D03-67F9-CF86-1F0AFCC1A8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" t="9022" r="5007" b="9306"/>
          <a:stretch>
            <a:fillRect/>
          </a:stretch>
        </p:blipFill>
        <p:spPr>
          <a:xfrm>
            <a:off x="947161" y="2857500"/>
            <a:ext cx="14935200" cy="72293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6B24-B98E-192A-1ED7-006F15683A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55F865-54CA-9FB6-83F9-60841872C5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78BBABC-3119-34C6-6B7A-CBD0F4C8D74D}"/>
              </a:ext>
            </a:extLst>
          </p:cNvPr>
          <p:cNvSpPr/>
          <p:nvPr/>
        </p:nvSpPr>
        <p:spPr>
          <a:xfrm>
            <a:off x="989579" y="1844186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31865D88-74DA-3F9B-D2CD-6E8B903EF3D1}"/>
              </a:ext>
            </a:extLst>
          </p:cNvPr>
          <p:cNvSpPr txBox="1"/>
          <p:nvPr/>
        </p:nvSpPr>
        <p:spPr>
          <a:xfrm>
            <a:off x="989579" y="2247900"/>
            <a:ext cx="14032865" cy="1334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35" dirty="0">
                <a:solidFill>
                  <a:srgbClr val="FFFFFF"/>
                </a:solidFill>
                <a:latin typeface="Tahoma"/>
                <a:cs typeface="Tahoma"/>
              </a:rPr>
              <a:t>WAP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Tahoma"/>
                <a:cs typeface="Tahoma"/>
              </a:rPr>
              <a:t>check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Tahoma"/>
                <a:cs typeface="Tahoma"/>
              </a:rPr>
              <a:t>if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Tahoma"/>
                <a:cs typeface="Tahoma"/>
              </a:rPr>
              <a:t>list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contains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00" dirty="0">
                <a:solidFill>
                  <a:srgbClr val="FFFFFF"/>
                </a:solidFill>
                <a:latin typeface="Tahoma"/>
                <a:cs typeface="Tahoma"/>
              </a:rPr>
              <a:t>palindrome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20" dirty="0">
                <a:solidFill>
                  <a:srgbClr val="FFFFFF"/>
                </a:solidFill>
                <a:latin typeface="Tahoma"/>
                <a:cs typeface="Tahoma"/>
              </a:rPr>
              <a:t>elements.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Tahoma"/>
                <a:cs typeface="Tahoma"/>
              </a:rPr>
              <a:t>(Hint: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0" dirty="0">
                <a:solidFill>
                  <a:srgbClr val="FFFFFF"/>
                </a:solidFill>
                <a:latin typeface="Tahoma"/>
                <a:cs typeface="Tahoma"/>
              </a:rPr>
              <a:t>use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65" dirty="0">
                <a:solidFill>
                  <a:srgbClr val="3BE2EC"/>
                </a:solidFill>
                <a:latin typeface="Tahoma"/>
                <a:cs typeface="Tahoma"/>
              </a:rPr>
              <a:t>copy(</a:t>
            </a:r>
            <a:r>
              <a:rPr sz="3200" spc="-20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3BE2EC"/>
                </a:solidFill>
                <a:latin typeface="Tahoma"/>
                <a:cs typeface="Tahoma"/>
              </a:rPr>
              <a:t>)</a:t>
            </a:r>
            <a:r>
              <a:rPr sz="3200" spc="-200" dirty="0">
                <a:solidFill>
                  <a:srgbClr val="3BE2EC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method)</a:t>
            </a:r>
            <a:endParaRPr sz="3200" dirty="0">
              <a:latin typeface="Tahoma"/>
              <a:cs typeface="Tahoma"/>
            </a:endParaRPr>
          </a:p>
          <a:p>
            <a:pPr marL="985519">
              <a:lnSpc>
                <a:spcPct val="100000"/>
              </a:lnSpc>
              <a:spcBef>
                <a:spcPts val="2630"/>
              </a:spcBef>
              <a:tabLst>
                <a:tab pos="5525770" algn="l"/>
              </a:tabLst>
            </a:pP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[1,</a:t>
            </a: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2,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3,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65" dirty="0">
                <a:solidFill>
                  <a:srgbClr val="FFFFFF"/>
                </a:solidFill>
                <a:latin typeface="Arial"/>
                <a:cs typeface="Arial"/>
              </a:rPr>
              <a:t>2,</a:t>
            </a: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50" dirty="0">
                <a:solidFill>
                  <a:srgbClr val="FFFFFF"/>
                </a:solidFill>
                <a:latin typeface="Arial"/>
                <a:cs typeface="Arial"/>
              </a:rPr>
              <a:t>1]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sz="3200" i="1" spc="75" dirty="0">
                <a:solidFill>
                  <a:srgbClr val="FFFFFF"/>
                </a:solidFill>
                <a:latin typeface="Arial"/>
                <a:cs typeface="Arial"/>
              </a:rPr>
              <a:t>[1,</a:t>
            </a: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90" dirty="0">
                <a:solidFill>
                  <a:srgbClr val="FFFFFF"/>
                </a:solidFill>
                <a:latin typeface="Arial"/>
                <a:cs typeface="Arial"/>
              </a:rPr>
              <a:t>“abc”,</a:t>
            </a: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90" dirty="0">
                <a:solidFill>
                  <a:srgbClr val="FFFFFF"/>
                </a:solidFill>
                <a:latin typeface="Arial"/>
                <a:cs typeface="Arial"/>
              </a:rPr>
              <a:t>“abc”,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50" dirty="0">
                <a:solidFill>
                  <a:srgbClr val="FFFFFF"/>
                </a:solidFill>
                <a:latin typeface="Arial"/>
                <a:cs typeface="Arial"/>
              </a:rPr>
              <a:t>1]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19FCAF11-B6DC-EBF4-AA77-F2D16330AF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09" t="13095" r="7809" b="13095"/>
          <a:stretch>
            <a:fillRect/>
          </a:stretch>
        </p:blipFill>
        <p:spPr>
          <a:xfrm>
            <a:off x="4114800" y="4204824"/>
            <a:ext cx="10210800" cy="608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724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7829" y="995044"/>
            <a:ext cx="389572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Let‘s</a:t>
            </a:r>
            <a:r>
              <a:rPr spc="-415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989579" y="1844187"/>
            <a:ext cx="3832225" cy="24130"/>
          </a:xfrm>
          <a:custGeom>
            <a:avLst/>
            <a:gdLst/>
            <a:ahLst/>
            <a:cxnLst/>
            <a:rect l="l" t="t" r="r" b="b"/>
            <a:pathLst>
              <a:path w="3832225" h="24130">
                <a:moveTo>
                  <a:pt x="0" y="23520"/>
                </a:moveTo>
                <a:lnTo>
                  <a:pt x="3831978" y="0"/>
                </a:lnTo>
              </a:path>
            </a:pathLst>
          </a:custGeom>
          <a:ln w="47624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2912" y="3632334"/>
            <a:ext cx="1007110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55" dirty="0">
                <a:solidFill>
                  <a:srgbClr val="FFFFFF"/>
                </a:solidFill>
                <a:latin typeface="Tahoma"/>
                <a:cs typeface="Tahoma"/>
              </a:rPr>
              <a:t>Store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70" dirty="0">
                <a:solidFill>
                  <a:srgbClr val="FFFFFF"/>
                </a:solidFill>
                <a:latin typeface="Tahoma"/>
                <a:cs typeface="Tahoma"/>
              </a:rPr>
              <a:t>above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85" dirty="0">
                <a:solidFill>
                  <a:srgbClr val="FFFFFF"/>
                </a:solidFill>
                <a:latin typeface="Tahoma"/>
                <a:cs typeface="Tahoma"/>
              </a:rPr>
              <a:t>values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90" dirty="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70" dirty="0">
                <a:solidFill>
                  <a:srgbClr val="FFFFFF"/>
                </a:solidFill>
                <a:latin typeface="Tahoma"/>
                <a:cs typeface="Tahoma"/>
              </a:rPr>
              <a:t>list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8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sort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45" dirty="0">
                <a:solidFill>
                  <a:srgbClr val="FFFFFF"/>
                </a:solidFill>
                <a:latin typeface="Tahoma"/>
                <a:cs typeface="Tahoma"/>
              </a:rPr>
              <a:t>them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from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Tahoma"/>
                <a:cs typeface="Tahoma"/>
              </a:rPr>
              <a:t>“A”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Tahoma"/>
                <a:cs typeface="Tahoma"/>
              </a:rPr>
              <a:t>“D”.</a:t>
            </a:r>
            <a:endParaRPr sz="3200" dirty="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2912" y="1832325"/>
            <a:ext cx="13398500" cy="1383030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5"/>
              </a:spcBef>
            </a:pPr>
            <a:r>
              <a:rPr sz="3200" spc="-235" dirty="0">
                <a:solidFill>
                  <a:srgbClr val="FFFFFF"/>
                </a:solidFill>
                <a:latin typeface="Tahoma"/>
                <a:cs typeface="Tahoma"/>
              </a:rPr>
              <a:t>WAP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to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Tahoma"/>
                <a:cs typeface="Tahoma"/>
              </a:rPr>
              <a:t>count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114" dirty="0">
                <a:solidFill>
                  <a:srgbClr val="FFFFFF"/>
                </a:solidFill>
                <a:latin typeface="Tahoma"/>
                <a:cs typeface="Tahoma"/>
              </a:rPr>
              <a:t>number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of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0" dirty="0">
                <a:solidFill>
                  <a:srgbClr val="FFFFFF"/>
                </a:solidFill>
                <a:latin typeface="Tahoma"/>
                <a:cs typeface="Tahoma"/>
              </a:rPr>
              <a:t>students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with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Tahoma"/>
                <a:cs typeface="Tahoma"/>
              </a:rPr>
              <a:t>“A”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95" dirty="0">
                <a:solidFill>
                  <a:srgbClr val="FFFFFF"/>
                </a:solidFill>
                <a:latin typeface="Tahoma"/>
                <a:cs typeface="Tahoma"/>
              </a:rPr>
              <a:t>grade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dirty="0">
                <a:solidFill>
                  <a:srgbClr val="FFFFFF"/>
                </a:solidFill>
                <a:latin typeface="Tahoma"/>
                <a:cs typeface="Tahoma"/>
              </a:rPr>
              <a:t>in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70" dirty="0">
                <a:solidFill>
                  <a:srgbClr val="FFFFFF"/>
                </a:solidFill>
                <a:latin typeface="Tahoma"/>
                <a:cs typeface="Tahoma"/>
              </a:rPr>
              <a:t>the</a:t>
            </a:r>
            <a:r>
              <a:rPr sz="3200" spc="-2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200" spc="-60" dirty="0">
                <a:solidFill>
                  <a:srgbClr val="FFFFFF"/>
                </a:solidFill>
                <a:latin typeface="Tahoma"/>
                <a:cs typeface="Tahoma"/>
              </a:rPr>
              <a:t>following</a:t>
            </a:r>
            <a:r>
              <a:rPr sz="3200" spc="-20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3200" spc="-10" dirty="0">
                <a:solidFill>
                  <a:srgbClr val="FFFFFF"/>
                </a:solidFill>
                <a:latin typeface="Tahoma"/>
                <a:cs typeface="Tahoma"/>
              </a:rPr>
              <a:t>List</a:t>
            </a:r>
            <a:r>
              <a:rPr sz="3200" spc="-10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3200" dirty="0">
              <a:latin typeface="Tahoma"/>
              <a:cs typeface="Tahoma"/>
            </a:endParaRPr>
          </a:p>
          <a:p>
            <a:pPr marL="1226820">
              <a:lnSpc>
                <a:spcPct val="100000"/>
              </a:lnSpc>
              <a:spcBef>
                <a:spcPts val="1505"/>
              </a:spcBef>
            </a:pPr>
            <a:r>
              <a:rPr sz="3200" i="1" spc="135" dirty="0">
                <a:solidFill>
                  <a:srgbClr val="FFFFFF"/>
                </a:solidFill>
                <a:latin typeface="Arial"/>
                <a:cs typeface="Arial"/>
              </a:rPr>
              <a:t>[”C”,</a:t>
            </a: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35" dirty="0">
                <a:solidFill>
                  <a:srgbClr val="FFFFFF"/>
                </a:solidFill>
                <a:latin typeface="Arial"/>
                <a:cs typeface="Arial"/>
              </a:rPr>
              <a:t>“D”,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40" dirty="0">
                <a:solidFill>
                  <a:srgbClr val="FFFFFF"/>
                </a:solidFill>
                <a:latin typeface="Arial"/>
                <a:cs typeface="Arial"/>
              </a:rPr>
              <a:t>“A”,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40" dirty="0">
                <a:solidFill>
                  <a:srgbClr val="FFFFFF"/>
                </a:solidFill>
                <a:latin typeface="Arial"/>
                <a:cs typeface="Arial"/>
              </a:rPr>
              <a:t>“A”,</a:t>
            </a: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14" dirty="0">
                <a:solidFill>
                  <a:srgbClr val="FFFFFF"/>
                </a:solidFill>
                <a:latin typeface="Arial"/>
                <a:cs typeface="Arial"/>
              </a:rPr>
              <a:t>“B”,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14" dirty="0">
                <a:solidFill>
                  <a:srgbClr val="FFFFFF"/>
                </a:solidFill>
                <a:latin typeface="Arial"/>
                <a:cs typeface="Arial"/>
              </a:rPr>
              <a:t>“B”,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120" dirty="0">
                <a:solidFill>
                  <a:srgbClr val="FFFFFF"/>
                </a:solidFill>
                <a:latin typeface="Arial"/>
                <a:cs typeface="Arial"/>
              </a:rPr>
              <a:t>“A”]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0BB9BA6-0774-B349-A0F9-81ACB418D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75" t="11962" r="7353" b="10830"/>
          <a:stretch>
            <a:fillRect/>
          </a:stretch>
        </p:blipFill>
        <p:spPr>
          <a:xfrm>
            <a:off x="425107" y="949624"/>
            <a:ext cx="17437785" cy="8387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075899"/>
      </p:ext>
    </p:extLst>
  </p:cSld>
  <p:clrMapOvr>
    <a:masterClrMapping/>
  </p:clrMapOvr>
  <p:transition spd="med">
    <p:pull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28F28-54F5-5F63-9857-D1C06D444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116" y="4495800"/>
            <a:ext cx="14877767" cy="1295400"/>
          </a:xfrm>
        </p:spPr>
        <p:txBody>
          <a:bodyPr/>
          <a:lstStyle/>
          <a:p>
            <a:pPr algn="ctr"/>
            <a:r>
              <a:rPr lang="en-US" sz="7200" b="1" dirty="0"/>
              <a:t>Thank You So Much</a:t>
            </a:r>
          </a:p>
        </p:txBody>
      </p:sp>
    </p:spTree>
    <p:extLst>
      <p:ext uri="{BB962C8B-B14F-4D97-AF65-F5344CB8AC3E}">
        <p14:creationId xmlns:p14="http://schemas.microsoft.com/office/powerpoint/2010/main" val="1746363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</TotalTime>
  <Words>650</Words>
  <Application>Microsoft Office PowerPoint</Application>
  <PresentationFormat>Custom</PresentationFormat>
  <Paragraphs>62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 MT</vt:lpstr>
      <vt:lpstr>Arial Unicode MS</vt:lpstr>
      <vt:lpstr>Arial</vt:lpstr>
      <vt:lpstr>Calibri</vt:lpstr>
      <vt:lpstr>Tahoma</vt:lpstr>
      <vt:lpstr>Office Theme</vt:lpstr>
      <vt:lpstr>Lecture: 4 Data Structures or Data Types In Python [list],(tuple),{dict: dictionary},{set} </vt:lpstr>
      <vt:lpstr>Data Structures or Data Types In Python </vt:lpstr>
      <vt:lpstr>List in Python</vt:lpstr>
      <vt:lpstr>List Slicing</vt:lpstr>
      <vt:lpstr>PowerPoint Presentation</vt:lpstr>
      <vt:lpstr>PowerPoint Presentation</vt:lpstr>
      <vt:lpstr>PowerPoint Presentation</vt:lpstr>
      <vt:lpstr>List Methods</vt:lpstr>
      <vt:lpstr>List Methods</vt:lpstr>
      <vt:lpstr>Tuples in Python</vt:lpstr>
      <vt:lpstr>Tuple Methods</vt:lpstr>
      <vt:lpstr>PowerPoint Presentation</vt:lpstr>
      <vt:lpstr>Let‘s Practice</vt:lpstr>
      <vt:lpstr>Let‘s Practice</vt:lpstr>
      <vt:lpstr>Let‘s Practice</vt:lpstr>
      <vt:lpstr>PowerPoint Presentation</vt:lpstr>
      <vt:lpstr>Thank You So Much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Python3</dc:title>
  <dc:creator>Rahul Neha</dc:creator>
  <cp:keywords>DAF7KoMrwJE,BAEHDsZUYOI</cp:keywords>
  <cp:lastModifiedBy>Sushil  Shrestha</cp:lastModifiedBy>
  <cp:revision>6</cp:revision>
  <dcterms:created xsi:type="dcterms:W3CDTF">2025-07-31T11:35:32Z</dcterms:created>
  <dcterms:modified xsi:type="dcterms:W3CDTF">2025-08-16T04:21:45Z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2024-01-29T00:00:00Z</vt:filetime>
  </property>
  <property fmtid="{D5CDD505-2E9C-101B-9397-08002B2CF9AE}" pid="3" name="Creator">
    <vt:lpwstr>Canva</vt:lpwstr>
  </property>
  <property fmtid="{D5CDD505-2E9C-101B-9397-08002B2CF9AE}" pid="4" name="LastSaved">
    <vt:filetime>2025-07-31T00:00:00Z</vt:filetime>
  </property>
  <property fmtid="{D5CDD505-2E9C-101B-9397-08002B2CF9AE}" pid="5" name="Producer">
    <vt:lpwstr>Canva</vt:lpwstr>
  </property>
</Properties>
</file>