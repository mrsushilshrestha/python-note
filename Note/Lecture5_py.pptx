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72" r:id="rId2"/>
    <p:sldId id="256" r:id="rId3"/>
    <p:sldId id="274" r:id="rId4"/>
    <p:sldId id="257" r:id="rId5"/>
    <p:sldId id="275" r:id="rId6"/>
    <p:sldId id="258" r:id="rId7"/>
    <p:sldId id="273" r:id="rId8"/>
    <p:sldId id="259" r:id="rId9"/>
    <p:sldId id="260" r:id="rId10"/>
    <p:sldId id="261" r:id="rId11"/>
    <p:sldId id="276" r:id="rId12"/>
    <p:sldId id="277" r:id="rId13"/>
    <p:sldId id="262" r:id="rId14"/>
    <p:sldId id="263" r:id="rId15"/>
    <p:sldId id="279" r:id="rId16"/>
    <p:sldId id="278" r:id="rId17"/>
    <p:sldId id="280" r:id="rId18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37" d="100"/>
          <a:sy n="37" d="100"/>
        </p:scale>
        <p:origin x="1060" y="2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0358438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3839AE6-08B4-437E-A34C-2008EE279F5F}" type="datetimeFigureOut">
              <a:rPr lang="en-US" smtClean="0"/>
              <a:t>8/7/2025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057900" y="1285875"/>
            <a:ext cx="6172200" cy="3471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828800" y="4951413"/>
            <a:ext cx="14630400" cy="40497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0358438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862008-3DA5-4962-97F5-7A0586BDC5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9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862008-3DA5-4962-97F5-7A0586BDC5E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8649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400" b="0" i="0">
                <a:solidFill>
                  <a:srgbClr val="FFA51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8/7/2025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400" b="0" i="0">
                <a:solidFill>
                  <a:srgbClr val="FFA51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8/7/2025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400" b="0" i="0">
                <a:solidFill>
                  <a:srgbClr val="FFA51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8/7/2025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400" b="0" i="0">
                <a:solidFill>
                  <a:srgbClr val="FFA51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8/7/2025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8/7/2025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7998" y="10286999"/>
                </a:moveTo>
                <a:lnTo>
                  <a:pt x="0" y="10286999"/>
                </a:lnTo>
                <a:lnTo>
                  <a:pt x="0" y="0"/>
                </a:lnTo>
                <a:lnTo>
                  <a:pt x="18287998" y="0"/>
                </a:lnTo>
                <a:lnTo>
                  <a:pt x="18287998" y="10286999"/>
                </a:lnTo>
                <a:close/>
              </a:path>
            </a:pathLst>
          </a:custGeom>
          <a:solidFill>
            <a:srgbClr val="0A2D4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53066" y="995042"/>
            <a:ext cx="5800090" cy="84836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5400" b="0" i="0">
                <a:solidFill>
                  <a:srgbClr val="FFA51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52912" y="2023538"/>
            <a:ext cx="14293215" cy="60401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8/7/2025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5E520-8D2C-900C-BA50-7567998F1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2171700"/>
            <a:ext cx="15982667" cy="4663264"/>
          </a:xfrm>
        </p:spPr>
        <p:txBody>
          <a:bodyPr/>
          <a:lstStyle/>
          <a:p>
            <a:pPr algn="ctr">
              <a:lnSpc>
                <a:spcPct val="150000"/>
              </a:lnSpc>
            </a:pPr>
            <a:r>
              <a:rPr lang="en-US" sz="6000" b="1" dirty="0">
                <a:solidFill>
                  <a:srgbClr val="FFC000"/>
                </a:solidFill>
              </a:rPr>
              <a:t>Lecture: 5</a:t>
            </a:r>
            <a:br>
              <a:rPr lang="en-US" sz="6000" b="1" dirty="0">
                <a:solidFill>
                  <a:srgbClr val="FFC000"/>
                </a:solidFill>
              </a:rPr>
            </a:br>
            <a:r>
              <a:rPr lang="en-US" sz="6000" b="1" dirty="0">
                <a:solidFill>
                  <a:srgbClr val="FFC000"/>
                </a:solidFill>
              </a:rPr>
              <a:t>Data Structures or Data Types In Python</a:t>
            </a:r>
            <a:br>
              <a:rPr lang="en-US" sz="6000" b="1" dirty="0">
                <a:solidFill>
                  <a:srgbClr val="FFC000"/>
                </a:solidFill>
              </a:rPr>
            </a:br>
            <a:r>
              <a:rPr lang="en-US" sz="4400" b="1" dirty="0">
                <a:solidFill>
                  <a:srgbClr val="00B050"/>
                </a:solidFill>
              </a:rPr>
              <a:t>[list],(tuple),{</a:t>
            </a:r>
            <a:r>
              <a:rPr lang="en-US" altLang="en-US" sz="4400" b="1" dirty="0">
                <a:solidFill>
                  <a:srgbClr val="00B050"/>
                </a:solidFill>
                <a:latin typeface="Arial Unicode MS"/>
              </a:rPr>
              <a:t>dict: dictionary},{set}</a:t>
            </a:r>
            <a:br>
              <a:rPr lang="en-US" sz="4400" b="1" dirty="0">
                <a:solidFill>
                  <a:srgbClr val="00B050"/>
                </a:solidFill>
              </a:rPr>
            </a:br>
            <a:endParaRPr lang="en-US" sz="4400" b="1" dirty="0">
              <a:solidFill>
                <a:srgbClr val="00B050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B0C6F5E-4CD2-C05B-9890-E840112C64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227948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2CF300-790C-56DD-B378-F034D770DB35}"/>
              </a:ext>
            </a:extLst>
          </p:cNvPr>
          <p:cNvSpPr txBox="1"/>
          <p:nvPr/>
        </p:nvSpPr>
        <p:spPr>
          <a:xfrm>
            <a:off x="12649200" y="8927931"/>
            <a:ext cx="5181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bg1"/>
                </a:solidFill>
                <a:latin typeface="+mn-lt"/>
              </a:rPr>
              <a:t>Sushil Shrestha</a:t>
            </a:r>
          </a:p>
        </p:txBody>
      </p:sp>
    </p:spTree>
    <p:extLst>
      <p:ext uri="{BB962C8B-B14F-4D97-AF65-F5344CB8AC3E}">
        <p14:creationId xmlns:p14="http://schemas.microsoft.com/office/powerpoint/2010/main" val="965128256"/>
      </p:ext>
    </p:extLst>
  </p:cSld>
  <p:clrMapOvr>
    <a:masterClrMapping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14" dirty="0"/>
              <a:t>Dictionary</a:t>
            </a:r>
            <a:r>
              <a:rPr spc="-340" dirty="0"/>
              <a:t> </a:t>
            </a:r>
            <a:r>
              <a:rPr dirty="0">
                <a:solidFill>
                  <a:srgbClr val="FFFFFF"/>
                </a:solidFill>
              </a:rPr>
              <a:t>in</a:t>
            </a:r>
            <a:r>
              <a:rPr spc="-340" dirty="0">
                <a:solidFill>
                  <a:srgbClr val="FFFFFF"/>
                </a:solidFill>
              </a:rPr>
              <a:t> </a:t>
            </a:r>
            <a:r>
              <a:rPr spc="-100" dirty="0">
                <a:solidFill>
                  <a:srgbClr val="FFFFFF"/>
                </a:solidFill>
              </a:rPr>
              <a:t>Python</a:t>
            </a:r>
          </a:p>
        </p:txBody>
      </p:sp>
      <p:sp>
        <p:nvSpPr>
          <p:cNvPr id="3" name="object 3"/>
          <p:cNvSpPr/>
          <p:nvPr/>
        </p:nvSpPr>
        <p:spPr>
          <a:xfrm>
            <a:off x="989579" y="1844137"/>
            <a:ext cx="5746115" cy="24130"/>
          </a:xfrm>
          <a:custGeom>
            <a:avLst/>
            <a:gdLst/>
            <a:ahLst/>
            <a:cxnLst/>
            <a:rect l="l" t="t" r="r" b="b"/>
            <a:pathLst>
              <a:path w="5746115" h="24130">
                <a:moveTo>
                  <a:pt x="0" y="23616"/>
                </a:moveTo>
                <a:lnTo>
                  <a:pt x="5745540" y="0"/>
                </a:lnTo>
              </a:path>
            </a:pathLst>
          </a:custGeom>
          <a:ln w="47624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53066" y="2240617"/>
            <a:ext cx="11866245" cy="313675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-55" dirty="0">
                <a:solidFill>
                  <a:srgbClr val="FFFFFF"/>
                </a:solidFill>
                <a:latin typeface="Tahoma"/>
                <a:cs typeface="Tahoma"/>
              </a:rPr>
              <a:t>Dictionaries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90" dirty="0">
                <a:solidFill>
                  <a:srgbClr val="FFFFFF"/>
                </a:solidFill>
                <a:latin typeface="Tahoma"/>
                <a:cs typeface="Tahoma"/>
              </a:rPr>
              <a:t>are</a:t>
            </a:r>
            <a:r>
              <a:rPr sz="3200" spc="-19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05" dirty="0">
                <a:solidFill>
                  <a:srgbClr val="FFFFFF"/>
                </a:solidFill>
                <a:latin typeface="Tahoma"/>
                <a:cs typeface="Tahoma"/>
              </a:rPr>
              <a:t>used</a:t>
            </a:r>
            <a:r>
              <a:rPr sz="3200" spc="-19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60" dirty="0">
                <a:solidFill>
                  <a:srgbClr val="FFFFFF"/>
                </a:solidFill>
                <a:latin typeface="Tahoma"/>
                <a:cs typeface="Tahoma"/>
              </a:rPr>
              <a:t>to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40" dirty="0">
                <a:solidFill>
                  <a:srgbClr val="FFFFFF"/>
                </a:solidFill>
                <a:latin typeface="Tahoma"/>
                <a:cs typeface="Tahoma"/>
              </a:rPr>
              <a:t>store</a:t>
            </a:r>
            <a:r>
              <a:rPr sz="3200" spc="-19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10" dirty="0">
                <a:solidFill>
                  <a:srgbClr val="FFFFFF"/>
                </a:solidFill>
                <a:latin typeface="Tahoma"/>
                <a:cs typeface="Tahoma"/>
              </a:rPr>
              <a:t>data</a:t>
            </a:r>
            <a:r>
              <a:rPr sz="3200" spc="-19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85" dirty="0">
                <a:solidFill>
                  <a:srgbClr val="FFFFFF"/>
                </a:solidFill>
                <a:latin typeface="Tahoma"/>
                <a:cs typeface="Tahoma"/>
              </a:rPr>
              <a:t>values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dirty="0">
                <a:solidFill>
                  <a:srgbClr val="FFFFFF"/>
                </a:solidFill>
                <a:latin typeface="Tahoma"/>
                <a:cs typeface="Tahoma"/>
              </a:rPr>
              <a:t>in</a:t>
            </a:r>
            <a:r>
              <a:rPr sz="3200" spc="-19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40" dirty="0">
                <a:solidFill>
                  <a:srgbClr val="3BE2EC"/>
                </a:solidFill>
                <a:latin typeface="Tahoma"/>
                <a:cs typeface="Tahoma"/>
              </a:rPr>
              <a:t>key:value</a:t>
            </a:r>
            <a:r>
              <a:rPr sz="3200" spc="-190" dirty="0">
                <a:solidFill>
                  <a:srgbClr val="3BE2EC"/>
                </a:solidFill>
                <a:latin typeface="Tahoma"/>
                <a:cs typeface="Tahoma"/>
              </a:rPr>
              <a:t> </a:t>
            </a:r>
            <a:r>
              <a:rPr sz="3200" spc="-10" dirty="0">
                <a:solidFill>
                  <a:srgbClr val="FFFFFF"/>
                </a:solidFill>
                <a:latin typeface="Tahoma"/>
                <a:cs typeface="Tahoma"/>
              </a:rPr>
              <a:t>pairs</a:t>
            </a:r>
            <a:endParaRPr sz="3200" dirty="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020"/>
              </a:spcBef>
            </a:pPr>
            <a:r>
              <a:rPr sz="3200" spc="-215" dirty="0">
                <a:solidFill>
                  <a:srgbClr val="FFFFFF"/>
                </a:solidFill>
                <a:latin typeface="Tahoma"/>
                <a:cs typeface="Tahoma"/>
              </a:rPr>
              <a:t>They</a:t>
            </a:r>
            <a:r>
              <a:rPr sz="3200" spc="-18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90" dirty="0">
                <a:solidFill>
                  <a:srgbClr val="FFFFFF"/>
                </a:solidFill>
                <a:latin typeface="Tahoma"/>
                <a:cs typeface="Tahoma"/>
              </a:rPr>
              <a:t>are</a:t>
            </a:r>
            <a:r>
              <a:rPr sz="3200" spc="-17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95" dirty="0">
                <a:solidFill>
                  <a:srgbClr val="FFFFFF"/>
                </a:solidFill>
                <a:latin typeface="Tahoma"/>
                <a:cs typeface="Tahoma"/>
              </a:rPr>
              <a:t>ordered,</a:t>
            </a:r>
            <a:r>
              <a:rPr sz="3200" spc="-17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25" dirty="0">
                <a:solidFill>
                  <a:srgbClr val="FFFFFF"/>
                </a:solidFill>
                <a:latin typeface="Tahoma"/>
                <a:cs typeface="Tahoma"/>
              </a:rPr>
              <a:t>mutable(changeable)</a:t>
            </a:r>
            <a:r>
              <a:rPr sz="3200" spc="-180" dirty="0">
                <a:solidFill>
                  <a:srgbClr val="FFFFFF"/>
                </a:solidFill>
                <a:latin typeface="Tahoma"/>
                <a:cs typeface="Tahoma"/>
              </a:rPr>
              <a:t> &amp;</a:t>
            </a:r>
            <a:r>
              <a:rPr sz="3200" spc="-17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55" dirty="0">
                <a:solidFill>
                  <a:srgbClr val="FFFFFF"/>
                </a:solidFill>
                <a:latin typeface="Tahoma"/>
                <a:cs typeface="Tahoma"/>
              </a:rPr>
              <a:t>don’t</a:t>
            </a:r>
            <a:r>
              <a:rPr sz="3200" spc="-17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10" dirty="0">
                <a:solidFill>
                  <a:srgbClr val="FFFFFF"/>
                </a:solidFill>
                <a:latin typeface="Tahoma"/>
                <a:cs typeface="Tahoma"/>
              </a:rPr>
              <a:t>allow</a:t>
            </a:r>
            <a:r>
              <a:rPr sz="3200" spc="-18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65" dirty="0">
                <a:solidFill>
                  <a:srgbClr val="FFFFFF"/>
                </a:solidFill>
                <a:latin typeface="Tahoma"/>
                <a:cs typeface="Tahoma"/>
              </a:rPr>
              <a:t>duplicate</a:t>
            </a:r>
            <a:r>
              <a:rPr sz="3200" spc="-17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20" dirty="0">
                <a:solidFill>
                  <a:srgbClr val="FFFFFF"/>
                </a:solidFill>
                <a:latin typeface="Tahoma"/>
                <a:cs typeface="Tahoma"/>
              </a:rPr>
              <a:t>keys</a:t>
            </a:r>
            <a:endParaRPr lang="en-US" sz="3200" spc="-20" dirty="0">
              <a:solidFill>
                <a:srgbClr val="FFFFFF"/>
              </a:solidFill>
              <a:latin typeface="Tahoma"/>
              <a:cs typeface="Tahoma"/>
            </a:endParaRPr>
          </a:p>
          <a:p>
            <a:pPr marL="12700" algn="l">
              <a:spcBef>
                <a:spcPts val="3020"/>
              </a:spcBef>
            </a:pPr>
            <a:r>
              <a:rPr lang="en-US" sz="3200" spc="65" dirty="0">
                <a:solidFill>
                  <a:srgbClr val="FFFFFF"/>
                </a:solidFill>
                <a:latin typeface="Arial MT"/>
                <a:cs typeface="Arial MT"/>
              </a:rPr>
              <a:t>“key”</a:t>
            </a:r>
            <a:r>
              <a:rPr lang="en-US" sz="3200" spc="-3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n-US" sz="3200" spc="155" dirty="0">
                <a:solidFill>
                  <a:srgbClr val="FFFFFF"/>
                </a:solidFill>
                <a:latin typeface="Arial MT"/>
                <a:cs typeface="Arial MT"/>
              </a:rPr>
              <a:t>:</a:t>
            </a:r>
            <a:r>
              <a:rPr lang="en-US" sz="3200" spc="-3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lang="en-US" sz="3200" spc="-20" dirty="0">
                <a:solidFill>
                  <a:srgbClr val="FFFFFF"/>
                </a:solidFill>
                <a:latin typeface="Arial MT"/>
                <a:cs typeface="Arial MT"/>
              </a:rPr>
              <a:t>value</a:t>
            </a:r>
            <a:endParaRPr lang="en-US" sz="32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3020"/>
              </a:spcBef>
            </a:pPr>
            <a:endParaRPr sz="3200" dirty="0">
              <a:latin typeface="Tahoma"/>
              <a:cs typeface="Tahoma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12036A-869B-949C-D020-BCF2473D60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12" t="11686" r="35868" b="71197"/>
          <a:stretch>
            <a:fillRect/>
          </a:stretch>
        </p:blipFill>
        <p:spPr>
          <a:xfrm>
            <a:off x="1018334" y="4686300"/>
            <a:ext cx="16619646" cy="5279366"/>
          </a:xfrm>
          <a:prstGeom prst="rect">
            <a:avLst/>
          </a:prstGeom>
        </p:spPr>
      </p:pic>
    </p:spTree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DA778A5-E234-8970-4772-B5563EF58B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78" t="17648" r="4678" b="14118"/>
          <a:stretch>
            <a:fillRect/>
          </a:stretch>
        </p:blipFill>
        <p:spPr>
          <a:xfrm>
            <a:off x="453258" y="2476500"/>
            <a:ext cx="17381483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278251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14" dirty="0"/>
              <a:t>Dictionary</a:t>
            </a:r>
            <a:r>
              <a:rPr spc="-340" dirty="0"/>
              <a:t> </a:t>
            </a:r>
            <a:r>
              <a:rPr dirty="0">
                <a:solidFill>
                  <a:srgbClr val="FFFFFF"/>
                </a:solidFill>
              </a:rPr>
              <a:t>in</a:t>
            </a:r>
            <a:r>
              <a:rPr spc="-340" dirty="0">
                <a:solidFill>
                  <a:srgbClr val="FFFFFF"/>
                </a:solidFill>
              </a:rPr>
              <a:t> </a:t>
            </a:r>
            <a:r>
              <a:rPr spc="-100" dirty="0">
                <a:solidFill>
                  <a:srgbClr val="FFFFFF"/>
                </a:solidFill>
              </a:rPr>
              <a:t>Python</a:t>
            </a:r>
          </a:p>
        </p:txBody>
      </p:sp>
      <p:sp>
        <p:nvSpPr>
          <p:cNvPr id="3" name="object 3"/>
          <p:cNvSpPr/>
          <p:nvPr/>
        </p:nvSpPr>
        <p:spPr>
          <a:xfrm>
            <a:off x="989579" y="1844137"/>
            <a:ext cx="5746115" cy="24130"/>
          </a:xfrm>
          <a:custGeom>
            <a:avLst/>
            <a:gdLst/>
            <a:ahLst/>
            <a:cxnLst/>
            <a:rect l="l" t="t" r="r" b="b"/>
            <a:pathLst>
              <a:path w="5746115" h="24130">
                <a:moveTo>
                  <a:pt x="0" y="23616"/>
                </a:moveTo>
                <a:lnTo>
                  <a:pt x="5745540" y="0"/>
                </a:lnTo>
              </a:path>
            </a:pathLst>
          </a:custGeom>
          <a:ln w="47624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953066" y="2097741"/>
            <a:ext cx="3316604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-105" dirty="0">
                <a:solidFill>
                  <a:srgbClr val="3BE2EC"/>
                </a:solidFill>
                <a:latin typeface="Tahoma"/>
                <a:cs typeface="Tahoma"/>
              </a:rPr>
              <a:t>Nested</a:t>
            </a:r>
            <a:r>
              <a:rPr sz="3200" spc="-215" dirty="0">
                <a:solidFill>
                  <a:srgbClr val="3BE2EC"/>
                </a:solidFill>
                <a:latin typeface="Tahoma"/>
                <a:cs typeface="Tahoma"/>
              </a:rPr>
              <a:t> </a:t>
            </a:r>
            <a:r>
              <a:rPr sz="3200" spc="-40" dirty="0">
                <a:solidFill>
                  <a:srgbClr val="FFFFFF"/>
                </a:solidFill>
                <a:latin typeface="Tahoma"/>
                <a:cs typeface="Tahoma"/>
              </a:rPr>
              <a:t>Dictionaries</a:t>
            </a:r>
            <a:endParaRPr sz="3200">
              <a:latin typeface="Tahoma"/>
              <a:cs typeface="Tahoma"/>
            </a:endParaRPr>
          </a:p>
        </p:txBody>
      </p:sp>
      <p:pic>
        <p:nvPicPr>
          <p:cNvPr id="8" name="Picture 7" descr="A computer screen shot of a black screen&#10;&#10;AI-generated content may be incorrect.">
            <a:extLst>
              <a:ext uri="{FF2B5EF4-FFF2-40B4-BE49-F238E27FC236}">
                <a16:creationId xmlns:a16="http://schemas.microsoft.com/office/drawing/2014/main" id="{3165F7D2-CFD8-EA1C-E90C-1B4A852258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22" t="12549" r="6932" b="12907"/>
          <a:stretch>
            <a:fillRect/>
          </a:stretch>
        </p:blipFill>
        <p:spPr>
          <a:xfrm>
            <a:off x="1217963" y="2840295"/>
            <a:ext cx="15852074" cy="7232685"/>
          </a:xfrm>
          <a:prstGeom prst="rect">
            <a:avLst/>
          </a:prstGeom>
        </p:spPr>
      </p:pic>
    </p:spTree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200557BB-D9EC-82A5-0A05-1FD92C6A24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32" t="8519" r="7947" b="7777"/>
          <a:stretch>
            <a:fillRect/>
          </a:stretch>
        </p:blipFill>
        <p:spPr>
          <a:xfrm>
            <a:off x="2647950" y="438027"/>
            <a:ext cx="12992100" cy="9410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254467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066" y="995044"/>
            <a:ext cx="5577840" cy="848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14" dirty="0">
                <a:solidFill>
                  <a:srgbClr val="FFFFFF"/>
                </a:solidFill>
              </a:rPr>
              <a:t>Dictionary</a:t>
            </a:r>
            <a:r>
              <a:rPr spc="-360" dirty="0">
                <a:solidFill>
                  <a:srgbClr val="FFFFFF"/>
                </a:solidFill>
              </a:rPr>
              <a:t> </a:t>
            </a:r>
            <a:r>
              <a:rPr spc="-65" dirty="0"/>
              <a:t>Methods</a:t>
            </a:r>
          </a:p>
        </p:txBody>
      </p:sp>
      <p:sp>
        <p:nvSpPr>
          <p:cNvPr id="3" name="object 3"/>
          <p:cNvSpPr/>
          <p:nvPr/>
        </p:nvSpPr>
        <p:spPr>
          <a:xfrm>
            <a:off x="989579" y="1844140"/>
            <a:ext cx="5652135" cy="24130"/>
          </a:xfrm>
          <a:custGeom>
            <a:avLst/>
            <a:gdLst/>
            <a:ahLst/>
            <a:cxnLst/>
            <a:rect l="l" t="t" r="r" b="b"/>
            <a:pathLst>
              <a:path w="5652134" h="24130">
                <a:moveTo>
                  <a:pt x="0" y="23613"/>
                </a:moveTo>
                <a:lnTo>
                  <a:pt x="5651551" y="0"/>
                </a:lnTo>
              </a:path>
            </a:pathLst>
          </a:custGeom>
          <a:ln w="47624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53066" y="2504502"/>
            <a:ext cx="12568555" cy="5354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5565">
              <a:lnSpc>
                <a:spcPct val="100000"/>
              </a:lnSpc>
              <a:spcBef>
                <a:spcPts val="100"/>
              </a:spcBef>
              <a:tabLst>
                <a:tab pos="2802890" algn="l"/>
              </a:tabLst>
            </a:pPr>
            <a:r>
              <a:rPr sz="3200" spc="-65" dirty="0">
                <a:solidFill>
                  <a:srgbClr val="FFFFFF"/>
                </a:solidFill>
                <a:latin typeface="Arial MT"/>
                <a:cs typeface="Arial MT"/>
              </a:rPr>
              <a:t>myDict.</a:t>
            </a:r>
            <a:r>
              <a:rPr sz="3200" b="1" spc="-65" dirty="0">
                <a:solidFill>
                  <a:srgbClr val="3BE2EC"/>
                </a:solidFill>
                <a:latin typeface="Arial"/>
                <a:cs typeface="Arial"/>
              </a:rPr>
              <a:t>keys</a:t>
            </a:r>
            <a:r>
              <a:rPr sz="3200" spc="-65" dirty="0">
                <a:solidFill>
                  <a:srgbClr val="FFFFFF"/>
                </a:solidFill>
                <a:latin typeface="Arial MT"/>
                <a:cs typeface="Arial MT"/>
              </a:rPr>
              <a:t>(</a:t>
            </a:r>
            <a:r>
              <a:rPr sz="3200" spc="-15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200" spc="-50" dirty="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r>
              <a:rPr sz="3200" dirty="0">
                <a:solidFill>
                  <a:srgbClr val="FFFFFF"/>
                </a:solidFill>
                <a:latin typeface="Arial MT"/>
                <a:cs typeface="Arial MT"/>
              </a:rPr>
              <a:t>	</a:t>
            </a: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#returns</a:t>
            </a:r>
            <a:r>
              <a:rPr sz="3200" spc="120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all</a:t>
            </a:r>
            <a:r>
              <a:rPr sz="3200" spc="120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20" dirty="0">
                <a:solidFill>
                  <a:srgbClr val="32BD15"/>
                </a:solidFill>
                <a:latin typeface="Arial MT"/>
                <a:cs typeface="Arial MT"/>
              </a:rPr>
              <a:t>keys</a:t>
            </a:r>
            <a:endParaRPr sz="32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2005"/>
              </a:spcBef>
            </a:pPr>
            <a:endParaRPr sz="3200" dirty="0">
              <a:latin typeface="Arial MT"/>
              <a:cs typeface="Arial MT"/>
            </a:endParaRPr>
          </a:p>
          <a:p>
            <a:pPr marL="75565">
              <a:lnSpc>
                <a:spcPct val="100000"/>
              </a:lnSpc>
              <a:spcBef>
                <a:spcPts val="5"/>
              </a:spcBef>
              <a:tabLst>
                <a:tab pos="3125470" algn="l"/>
              </a:tabLst>
            </a:pPr>
            <a:r>
              <a:rPr sz="3200" spc="-85" dirty="0">
                <a:solidFill>
                  <a:srgbClr val="FFFFFF"/>
                </a:solidFill>
                <a:latin typeface="Arial MT"/>
                <a:cs typeface="Arial MT"/>
              </a:rPr>
              <a:t>myDict.</a:t>
            </a:r>
            <a:r>
              <a:rPr sz="3200" b="1" spc="-85" dirty="0">
                <a:solidFill>
                  <a:srgbClr val="3BE2EC"/>
                </a:solidFill>
                <a:latin typeface="Arial"/>
                <a:cs typeface="Arial"/>
              </a:rPr>
              <a:t>values</a:t>
            </a:r>
            <a:r>
              <a:rPr sz="3200" b="1" spc="-85" dirty="0">
                <a:solidFill>
                  <a:srgbClr val="FFFFFF"/>
                </a:solidFill>
                <a:latin typeface="Arial"/>
                <a:cs typeface="Arial"/>
              </a:rPr>
              <a:t>( </a:t>
            </a:r>
            <a:r>
              <a:rPr sz="3200" b="1" spc="-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3200" b="1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#returns</a:t>
            </a:r>
            <a:r>
              <a:rPr sz="3200" spc="120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all</a:t>
            </a:r>
            <a:r>
              <a:rPr sz="3200" spc="120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10" dirty="0">
                <a:solidFill>
                  <a:srgbClr val="32BD15"/>
                </a:solidFill>
                <a:latin typeface="Arial MT"/>
                <a:cs typeface="Arial MT"/>
              </a:rPr>
              <a:t>values</a:t>
            </a:r>
            <a:endParaRPr sz="3200" dirty="0">
              <a:latin typeface="Arial MT"/>
              <a:cs typeface="Arial MT"/>
            </a:endParaRPr>
          </a:p>
          <a:p>
            <a:pPr marL="12700" marR="2601595" indent="62865">
              <a:lnSpc>
                <a:spcPct val="248200"/>
              </a:lnSpc>
              <a:tabLst>
                <a:tab pos="2972435" algn="l"/>
                <a:tab pos="3717290" algn="l"/>
              </a:tabLst>
            </a:pPr>
            <a:r>
              <a:rPr sz="3200" spc="-60" dirty="0">
                <a:solidFill>
                  <a:srgbClr val="FFFFFF"/>
                </a:solidFill>
                <a:latin typeface="Arial MT"/>
                <a:cs typeface="Arial MT"/>
              </a:rPr>
              <a:t>myDict.</a:t>
            </a:r>
            <a:r>
              <a:rPr sz="3200" b="1" spc="-60" dirty="0">
                <a:solidFill>
                  <a:srgbClr val="3BE2EC"/>
                </a:solidFill>
                <a:latin typeface="Arial"/>
                <a:cs typeface="Arial"/>
              </a:rPr>
              <a:t>items</a:t>
            </a:r>
            <a:r>
              <a:rPr sz="3200" b="1" spc="-6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3200" b="1" spc="-9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b="1" spc="-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3200" b="1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#returns</a:t>
            </a:r>
            <a:r>
              <a:rPr sz="3200" spc="-85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all</a:t>
            </a:r>
            <a:r>
              <a:rPr sz="3200" spc="-60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i="1" spc="-30" dirty="0">
                <a:solidFill>
                  <a:srgbClr val="FFFFFF"/>
                </a:solidFill>
                <a:latin typeface="Arial"/>
                <a:cs typeface="Arial"/>
              </a:rPr>
              <a:t>(key,</a:t>
            </a:r>
            <a:r>
              <a:rPr sz="3200" i="1" spc="-5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i="1" spc="-20" dirty="0">
                <a:solidFill>
                  <a:srgbClr val="FFFFFF"/>
                </a:solidFill>
                <a:latin typeface="Arial"/>
                <a:cs typeface="Arial"/>
              </a:rPr>
              <a:t>val)</a:t>
            </a:r>
            <a:r>
              <a:rPr sz="3200" i="1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spc="-20" dirty="0">
                <a:solidFill>
                  <a:srgbClr val="32BD15"/>
                </a:solidFill>
                <a:latin typeface="Arial MT"/>
                <a:cs typeface="Arial MT"/>
              </a:rPr>
              <a:t>pairs</a:t>
            </a:r>
            <a:r>
              <a:rPr sz="3200" spc="-60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225" dirty="0">
                <a:solidFill>
                  <a:srgbClr val="32BD15"/>
                </a:solidFill>
                <a:latin typeface="Arial MT"/>
                <a:cs typeface="Arial MT"/>
              </a:rPr>
              <a:t>as</a:t>
            </a:r>
            <a:r>
              <a:rPr sz="3200" spc="-45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10" dirty="0">
                <a:solidFill>
                  <a:srgbClr val="32BD15"/>
                </a:solidFill>
                <a:latin typeface="Arial MT"/>
                <a:cs typeface="Arial MT"/>
              </a:rPr>
              <a:t>tuples </a:t>
            </a:r>
            <a:r>
              <a:rPr sz="3200" spc="-35" dirty="0">
                <a:solidFill>
                  <a:srgbClr val="FFFFFF"/>
                </a:solidFill>
                <a:latin typeface="Arial MT"/>
                <a:cs typeface="Arial MT"/>
              </a:rPr>
              <a:t>myDict.</a:t>
            </a:r>
            <a:r>
              <a:rPr sz="3200" b="1" spc="-35" dirty="0">
                <a:solidFill>
                  <a:srgbClr val="3BE2EC"/>
                </a:solidFill>
                <a:latin typeface="Arial"/>
                <a:cs typeface="Arial"/>
              </a:rPr>
              <a:t>get</a:t>
            </a:r>
            <a:r>
              <a:rPr sz="3200" b="1" spc="-3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3200" b="1" spc="-9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spc="100" dirty="0">
                <a:solidFill>
                  <a:srgbClr val="FFFFFF"/>
                </a:solidFill>
                <a:latin typeface="Arial MT"/>
                <a:cs typeface="Arial MT"/>
              </a:rPr>
              <a:t>“key““</a:t>
            </a:r>
            <a:r>
              <a:rPr sz="3200" spc="-16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200" b="1" spc="-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3200" b="1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#returns</a:t>
            </a:r>
            <a:r>
              <a:rPr sz="3200" spc="-35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the</a:t>
            </a:r>
            <a:r>
              <a:rPr sz="3200" spc="-35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30" dirty="0">
                <a:solidFill>
                  <a:srgbClr val="32BD15"/>
                </a:solidFill>
                <a:latin typeface="Arial MT"/>
                <a:cs typeface="Arial MT"/>
              </a:rPr>
              <a:t>key </a:t>
            </a:r>
            <a:r>
              <a:rPr sz="3200" spc="-35" dirty="0">
                <a:solidFill>
                  <a:srgbClr val="32BD15"/>
                </a:solidFill>
                <a:latin typeface="Arial MT"/>
                <a:cs typeface="Arial MT"/>
              </a:rPr>
              <a:t>according </a:t>
            </a:r>
            <a:r>
              <a:rPr sz="3200" spc="55" dirty="0">
                <a:solidFill>
                  <a:srgbClr val="32BD15"/>
                </a:solidFill>
                <a:latin typeface="Arial MT"/>
                <a:cs typeface="Arial MT"/>
              </a:rPr>
              <a:t>to</a:t>
            </a:r>
            <a:r>
              <a:rPr sz="3200" spc="-30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35" dirty="0">
                <a:solidFill>
                  <a:srgbClr val="32BD15"/>
                </a:solidFill>
                <a:latin typeface="Arial MT"/>
                <a:cs typeface="Arial MT"/>
              </a:rPr>
              <a:t>value</a:t>
            </a:r>
            <a:endParaRPr sz="32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2005"/>
              </a:spcBef>
            </a:pPr>
            <a:endParaRPr sz="3200" dirty="0">
              <a:latin typeface="Arial MT"/>
              <a:cs typeface="Arial MT"/>
            </a:endParaRPr>
          </a:p>
          <a:p>
            <a:pPr marL="75565">
              <a:lnSpc>
                <a:spcPct val="100000"/>
              </a:lnSpc>
              <a:spcBef>
                <a:spcPts val="5"/>
              </a:spcBef>
              <a:tabLst>
                <a:tab pos="4757420" algn="l"/>
              </a:tabLst>
            </a:pPr>
            <a:r>
              <a:rPr sz="3200" spc="-55" dirty="0">
                <a:solidFill>
                  <a:srgbClr val="FFFFFF"/>
                </a:solidFill>
                <a:latin typeface="Arial MT"/>
                <a:cs typeface="Arial MT"/>
              </a:rPr>
              <a:t>myDict.</a:t>
            </a:r>
            <a:r>
              <a:rPr sz="3200" b="1" spc="-55" dirty="0">
                <a:solidFill>
                  <a:srgbClr val="3BE2EC"/>
                </a:solidFill>
                <a:latin typeface="Arial"/>
                <a:cs typeface="Arial"/>
              </a:rPr>
              <a:t>update</a:t>
            </a:r>
            <a:r>
              <a:rPr sz="3200" b="1" spc="-5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3200" b="1" spc="-1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spc="-40" dirty="0">
                <a:solidFill>
                  <a:srgbClr val="FFFFFF"/>
                </a:solidFill>
                <a:latin typeface="Arial MT"/>
                <a:cs typeface="Arial MT"/>
              </a:rPr>
              <a:t>newDict</a:t>
            </a:r>
            <a:r>
              <a:rPr sz="3200" spc="-1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200" b="1" spc="-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3200" b="1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#inserts</a:t>
            </a:r>
            <a:r>
              <a:rPr sz="3200" spc="-100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the</a:t>
            </a:r>
            <a:r>
              <a:rPr sz="3200" spc="-100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40" dirty="0">
                <a:solidFill>
                  <a:srgbClr val="32BD15"/>
                </a:solidFill>
                <a:latin typeface="Arial MT"/>
                <a:cs typeface="Arial MT"/>
              </a:rPr>
              <a:t>specified</a:t>
            </a:r>
            <a:r>
              <a:rPr sz="3200" spc="-95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25" dirty="0">
                <a:solidFill>
                  <a:srgbClr val="32BD15"/>
                </a:solidFill>
                <a:latin typeface="Arial MT"/>
                <a:cs typeface="Arial MT"/>
              </a:rPr>
              <a:t>items</a:t>
            </a:r>
            <a:r>
              <a:rPr sz="3200" spc="-100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55" dirty="0">
                <a:solidFill>
                  <a:srgbClr val="32BD15"/>
                </a:solidFill>
                <a:latin typeface="Arial MT"/>
                <a:cs typeface="Arial MT"/>
              </a:rPr>
              <a:t>to</a:t>
            </a:r>
            <a:r>
              <a:rPr sz="3200" spc="-100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the</a:t>
            </a:r>
            <a:r>
              <a:rPr sz="3200" spc="-95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10" dirty="0">
                <a:solidFill>
                  <a:srgbClr val="32BD15"/>
                </a:solidFill>
                <a:latin typeface="Arial MT"/>
                <a:cs typeface="Arial MT"/>
              </a:rPr>
              <a:t>dictionary</a:t>
            </a:r>
            <a:endParaRPr sz="3200" dirty="0">
              <a:latin typeface="Arial MT"/>
              <a:cs typeface="Arial MT"/>
            </a:endParaRPr>
          </a:p>
        </p:txBody>
      </p:sp>
    </p:spTree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6F1A2-1212-CAC1-7792-BE0997E74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114" dirty="0">
                <a:solidFill>
                  <a:srgbClr val="FFFFFF"/>
                </a:solidFill>
              </a:rPr>
              <a:t>Dictionary</a:t>
            </a:r>
            <a:r>
              <a:rPr lang="en-US" spc="-360" dirty="0">
                <a:solidFill>
                  <a:srgbClr val="FFFFFF"/>
                </a:solidFill>
              </a:rPr>
              <a:t> </a:t>
            </a:r>
            <a:r>
              <a:rPr lang="en-US" spc="-65" dirty="0"/>
              <a:t>Methods</a:t>
            </a:r>
            <a:endParaRPr lang="en-US" dirty="0"/>
          </a:p>
        </p:txBody>
      </p:sp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2FBB29C-EDDC-589A-C13A-AEFF782B07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60" t="11008" r="5251" b="6499"/>
          <a:stretch>
            <a:fillRect/>
          </a:stretch>
        </p:blipFill>
        <p:spPr>
          <a:xfrm>
            <a:off x="6786224" y="494581"/>
            <a:ext cx="10638694" cy="979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274206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14" dirty="0"/>
              <a:t>Set</a:t>
            </a:r>
            <a:r>
              <a:rPr spc="-335" dirty="0"/>
              <a:t> </a:t>
            </a:r>
            <a:r>
              <a:rPr dirty="0">
                <a:solidFill>
                  <a:srgbClr val="FFFFFF"/>
                </a:solidFill>
              </a:rPr>
              <a:t>in</a:t>
            </a:r>
            <a:r>
              <a:rPr spc="-330" dirty="0">
                <a:solidFill>
                  <a:srgbClr val="FFFFFF"/>
                </a:solidFill>
              </a:rPr>
              <a:t> </a:t>
            </a:r>
            <a:r>
              <a:rPr spc="-114" dirty="0">
                <a:solidFill>
                  <a:srgbClr val="FFFFFF"/>
                </a:solidFill>
              </a:rPr>
              <a:t>Python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16000" y="7572712"/>
            <a:ext cx="2738120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dirty="0">
                <a:solidFill>
                  <a:srgbClr val="FFFFFF"/>
                </a:solidFill>
                <a:latin typeface="Arial MT"/>
                <a:cs typeface="Arial MT"/>
              </a:rPr>
              <a:t>null_set</a:t>
            </a:r>
            <a:r>
              <a:rPr sz="3200" spc="-7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200" spc="90" dirty="0">
                <a:solidFill>
                  <a:srgbClr val="FFFFFF"/>
                </a:solidFill>
                <a:latin typeface="Arial MT"/>
                <a:cs typeface="Arial MT"/>
              </a:rPr>
              <a:t>=</a:t>
            </a:r>
            <a:r>
              <a:rPr sz="3200" spc="-7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200" spc="-105" dirty="0">
                <a:solidFill>
                  <a:srgbClr val="FFFFFF"/>
                </a:solidFill>
                <a:latin typeface="Arial MT"/>
                <a:cs typeface="Arial MT"/>
              </a:rPr>
              <a:t>set(</a:t>
            </a:r>
            <a:r>
              <a:rPr sz="3200" spc="-7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200" spc="-50" dirty="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endParaRPr sz="320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621817" y="7572712"/>
            <a:ext cx="3224530" cy="513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#empty</a:t>
            </a:r>
            <a:r>
              <a:rPr sz="3200" spc="-10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45" dirty="0">
                <a:solidFill>
                  <a:srgbClr val="32BD15"/>
                </a:solidFill>
                <a:latin typeface="Arial MT"/>
                <a:cs typeface="Arial MT"/>
              </a:rPr>
              <a:t>set</a:t>
            </a:r>
            <a:r>
              <a:rPr sz="3200" spc="-10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65" dirty="0">
                <a:solidFill>
                  <a:srgbClr val="32BD15"/>
                </a:solidFill>
                <a:latin typeface="Arial MT"/>
                <a:cs typeface="Arial MT"/>
              </a:rPr>
              <a:t>syntax</a:t>
            </a:r>
            <a:endParaRPr sz="320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989578" y="1844188"/>
            <a:ext cx="3766185" cy="24130"/>
          </a:xfrm>
          <a:custGeom>
            <a:avLst/>
            <a:gdLst/>
            <a:ahLst/>
            <a:cxnLst/>
            <a:rect l="l" t="t" r="r" b="b"/>
            <a:pathLst>
              <a:path w="3766185" h="24130">
                <a:moveTo>
                  <a:pt x="0" y="23515"/>
                </a:moveTo>
                <a:lnTo>
                  <a:pt x="3765702" y="0"/>
                </a:lnTo>
              </a:path>
            </a:pathLst>
          </a:custGeom>
          <a:ln w="47625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953066" y="2048136"/>
            <a:ext cx="10615930" cy="4633595"/>
          </a:xfrm>
          <a:prstGeom prst="rect">
            <a:avLst/>
          </a:prstGeom>
        </p:spPr>
        <p:txBody>
          <a:bodyPr vert="horz" wrap="square" lIns="0" tIns="2108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660"/>
              </a:spcBef>
            </a:pPr>
            <a:r>
              <a:rPr sz="3200" spc="-75" dirty="0">
                <a:solidFill>
                  <a:srgbClr val="FFFFFF"/>
                </a:solidFill>
                <a:latin typeface="Tahoma"/>
                <a:cs typeface="Tahoma"/>
              </a:rPr>
              <a:t>Set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55" dirty="0">
                <a:solidFill>
                  <a:srgbClr val="FFFFFF"/>
                </a:solidFill>
                <a:latin typeface="Tahoma"/>
                <a:cs typeface="Tahoma"/>
              </a:rPr>
              <a:t>is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70" dirty="0">
                <a:solidFill>
                  <a:srgbClr val="FFFFFF"/>
                </a:solidFill>
                <a:latin typeface="Tahoma"/>
                <a:cs typeface="Tahoma"/>
              </a:rPr>
              <a:t>the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45" dirty="0">
                <a:solidFill>
                  <a:srgbClr val="FFFFFF"/>
                </a:solidFill>
                <a:latin typeface="Tahoma"/>
                <a:cs typeface="Tahoma"/>
              </a:rPr>
              <a:t>collection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70" dirty="0">
                <a:solidFill>
                  <a:srgbClr val="FFFFFF"/>
                </a:solidFill>
                <a:latin typeface="Tahoma"/>
                <a:cs typeface="Tahoma"/>
              </a:rPr>
              <a:t>of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70" dirty="0">
                <a:solidFill>
                  <a:srgbClr val="FFFFFF"/>
                </a:solidFill>
                <a:latin typeface="Tahoma"/>
                <a:cs typeface="Tahoma"/>
              </a:rPr>
              <a:t>the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80" dirty="0">
                <a:solidFill>
                  <a:srgbClr val="FFFFFF"/>
                </a:solidFill>
                <a:latin typeface="Tahoma"/>
                <a:cs typeface="Tahoma"/>
              </a:rPr>
              <a:t>unordered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0" dirty="0">
                <a:solidFill>
                  <a:srgbClr val="FFFFFF"/>
                </a:solidFill>
                <a:latin typeface="Tahoma"/>
                <a:cs typeface="Tahoma"/>
              </a:rPr>
              <a:t>items.</a:t>
            </a:r>
            <a:endParaRPr sz="32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1560"/>
              </a:spcBef>
            </a:pPr>
            <a:r>
              <a:rPr sz="3200" spc="-150" dirty="0">
                <a:solidFill>
                  <a:srgbClr val="FFFFFF"/>
                </a:solidFill>
                <a:latin typeface="Tahoma"/>
                <a:cs typeface="Tahoma"/>
              </a:rPr>
              <a:t>Each</a:t>
            </a:r>
            <a:r>
              <a:rPr sz="3200" spc="-204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20" dirty="0">
                <a:solidFill>
                  <a:srgbClr val="FFFFFF"/>
                </a:solidFill>
                <a:latin typeface="Tahoma"/>
                <a:cs typeface="Tahoma"/>
              </a:rPr>
              <a:t>element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dirty="0">
                <a:solidFill>
                  <a:srgbClr val="FFFFFF"/>
                </a:solidFill>
                <a:latin typeface="Tahoma"/>
                <a:cs typeface="Tahoma"/>
              </a:rPr>
              <a:t>in</a:t>
            </a:r>
            <a:r>
              <a:rPr sz="3200" spc="-204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70" dirty="0">
                <a:solidFill>
                  <a:srgbClr val="FFFFFF"/>
                </a:solidFill>
                <a:latin typeface="Tahoma"/>
                <a:cs typeface="Tahoma"/>
              </a:rPr>
              <a:t>the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45" dirty="0">
                <a:solidFill>
                  <a:srgbClr val="FFFFFF"/>
                </a:solidFill>
                <a:latin typeface="Tahoma"/>
                <a:cs typeface="Tahoma"/>
              </a:rPr>
              <a:t>set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95" dirty="0">
                <a:solidFill>
                  <a:srgbClr val="FFFFFF"/>
                </a:solidFill>
                <a:latin typeface="Tahoma"/>
                <a:cs typeface="Tahoma"/>
              </a:rPr>
              <a:t>must</a:t>
            </a:r>
            <a:r>
              <a:rPr sz="3200" spc="-204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65" dirty="0">
                <a:solidFill>
                  <a:srgbClr val="FFFFFF"/>
                </a:solidFill>
                <a:latin typeface="Tahoma"/>
                <a:cs typeface="Tahoma"/>
              </a:rPr>
              <a:t>be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90" dirty="0">
                <a:solidFill>
                  <a:srgbClr val="FFFFFF"/>
                </a:solidFill>
                <a:latin typeface="Tahoma"/>
                <a:cs typeface="Tahoma"/>
              </a:rPr>
              <a:t>unique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80" dirty="0">
                <a:solidFill>
                  <a:srgbClr val="FFFFFF"/>
                </a:solidFill>
                <a:latin typeface="Tahoma"/>
                <a:cs typeface="Tahoma"/>
              </a:rPr>
              <a:t>&amp;</a:t>
            </a:r>
            <a:r>
              <a:rPr sz="3200" spc="-204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0" dirty="0">
                <a:solidFill>
                  <a:srgbClr val="FFFFFF"/>
                </a:solidFill>
                <a:latin typeface="Tahoma"/>
                <a:cs typeface="Tahoma"/>
              </a:rPr>
              <a:t>immutable.</a:t>
            </a:r>
            <a:endParaRPr sz="3200">
              <a:latin typeface="Tahoma"/>
              <a:cs typeface="Tahoma"/>
            </a:endParaRPr>
          </a:p>
          <a:p>
            <a:pPr>
              <a:lnSpc>
                <a:spcPct val="100000"/>
              </a:lnSpc>
            </a:pPr>
            <a:endParaRPr sz="32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1255"/>
              </a:spcBef>
            </a:pPr>
            <a:endParaRPr sz="32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sz="3200" spc="-65" dirty="0">
                <a:solidFill>
                  <a:srgbClr val="FFFFFF"/>
                </a:solidFill>
                <a:latin typeface="Arial MT"/>
                <a:cs typeface="Arial MT"/>
              </a:rPr>
              <a:t>nums</a:t>
            </a:r>
            <a:r>
              <a:rPr sz="3200" spc="-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200" spc="90" dirty="0">
                <a:solidFill>
                  <a:srgbClr val="FFFFFF"/>
                </a:solidFill>
                <a:latin typeface="Arial MT"/>
                <a:cs typeface="Arial MT"/>
              </a:rPr>
              <a:t>=</a:t>
            </a:r>
            <a:r>
              <a:rPr sz="3200" spc="-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FFFFFF"/>
                </a:solidFill>
                <a:latin typeface="Arial MT"/>
                <a:cs typeface="Arial MT"/>
              </a:rPr>
              <a:t>{</a:t>
            </a:r>
            <a:r>
              <a:rPr sz="3200" spc="-3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FFFFFF"/>
                </a:solidFill>
                <a:latin typeface="Arial MT"/>
                <a:cs typeface="Arial MT"/>
              </a:rPr>
              <a:t>1,</a:t>
            </a:r>
            <a:r>
              <a:rPr sz="3200" spc="-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FFFFFF"/>
                </a:solidFill>
                <a:latin typeface="Arial MT"/>
                <a:cs typeface="Arial MT"/>
              </a:rPr>
              <a:t>2,</a:t>
            </a:r>
            <a:r>
              <a:rPr sz="3200" spc="-3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FFFFFF"/>
                </a:solidFill>
                <a:latin typeface="Arial MT"/>
                <a:cs typeface="Arial MT"/>
              </a:rPr>
              <a:t>3,</a:t>
            </a:r>
            <a:r>
              <a:rPr sz="3200" spc="-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FFFFFF"/>
                </a:solidFill>
                <a:latin typeface="Arial MT"/>
                <a:cs typeface="Arial MT"/>
              </a:rPr>
              <a:t>4</a:t>
            </a:r>
            <a:r>
              <a:rPr sz="3200" spc="-3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200" spc="-50" dirty="0">
                <a:solidFill>
                  <a:srgbClr val="FFFFFF"/>
                </a:solidFill>
                <a:latin typeface="Arial MT"/>
                <a:cs typeface="Arial MT"/>
              </a:rPr>
              <a:t>}</a:t>
            </a:r>
            <a:endParaRPr sz="3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3440"/>
              </a:spcBef>
            </a:pPr>
            <a:r>
              <a:rPr sz="3200" spc="-35" dirty="0">
                <a:solidFill>
                  <a:srgbClr val="FFFFFF"/>
                </a:solidFill>
                <a:latin typeface="Arial MT"/>
                <a:cs typeface="Arial MT"/>
              </a:rPr>
              <a:t>set2</a:t>
            </a:r>
            <a:r>
              <a:rPr sz="3200" spc="-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200" spc="90" dirty="0">
                <a:solidFill>
                  <a:srgbClr val="FFFFFF"/>
                </a:solidFill>
                <a:latin typeface="Arial MT"/>
                <a:cs typeface="Arial MT"/>
              </a:rPr>
              <a:t>=</a:t>
            </a:r>
            <a:r>
              <a:rPr sz="3200" spc="-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FFFFFF"/>
                </a:solidFill>
                <a:latin typeface="Arial MT"/>
                <a:cs typeface="Arial MT"/>
              </a:rPr>
              <a:t>{</a:t>
            </a:r>
            <a:r>
              <a:rPr sz="3200" spc="-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FFFFFF"/>
                </a:solidFill>
                <a:latin typeface="Arial MT"/>
                <a:cs typeface="Arial MT"/>
              </a:rPr>
              <a:t>1,</a:t>
            </a:r>
            <a:r>
              <a:rPr sz="3200" spc="-3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FFFFFF"/>
                </a:solidFill>
                <a:latin typeface="Arial MT"/>
                <a:cs typeface="Arial MT"/>
              </a:rPr>
              <a:t>2,</a:t>
            </a:r>
            <a:r>
              <a:rPr sz="3200" spc="-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FFFFFF"/>
                </a:solidFill>
                <a:latin typeface="Arial MT"/>
                <a:cs typeface="Arial MT"/>
              </a:rPr>
              <a:t>2,</a:t>
            </a:r>
            <a:r>
              <a:rPr sz="3200" spc="-4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FFFFFF"/>
                </a:solidFill>
                <a:latin typeface="Arial MT"/>
                <a:cs typeface="Arial MT"/>
              </a:rPr>
              <a:t>2</a:t>
            </a:r>
            <a:r>
              <a:rPr sz="3200" spc="-3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200" spc="-50" dirty="0">
                <a:solidFill>
                  <a:srgbClr val="FFFFFF"/>
                </a:solidFill>
                <a:latin typeface="Arial MT"/>
                <a:cs typeface="Arial MT"/>
              </a:rPr>
              <a:t>}</a:t>
            </a:r>
            <a:endParaRPr sz="3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540"/>
              </a:spcBef>
            </a:pP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#repeated</a:t>
            </a:r>
            <a:r>
              <a:rPr sz="3200" spc="-125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60" dirty="0">
                <a:solidFill>
                  <a:srgbClr val="32BD15"/>
                </a:solidFill>
                <a:latin typeface="Arial MT"/>
                <a:cs typeface="Arial MT"/>
              </a:rPr>
              <a:t>elements</a:t>
            </a:r>
            <a:r>
              <a:rPr sz="3200" spc="-114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stored</a:t>
            </a:r>
            <a:r>
              <a:rPr sz="3200" spc="-114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only</a:t>
            </a:r>
            <a:r>
              <a:rPr sz="3200" spc="-110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20" dirty="0">
                <a:solidFill>
                  <a:srgbClr val="32BD15"/>
                </a:solidFill>
                <a:latin typeface="Arial MT"/>
                <a:cs typeface="Arial MT"/>
              </a:rPr>
              <a:t>once,</a:t>
            </a:r>
            <a:r>
              <a:rPr sz="3200" spc="-114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120" dirty="0">
                <a:solidFill>
                  <a:srgbClr val="32BD15"/>
                </a:solidFill>
                <a:latin typeface="Arial MT"/>
                <a:cs typeface="Arial MT"/>
              </a:rPr>
              <a:t>so</a:t>
            </a:r>
            <a:r>
              <a:rPr sz="3200" spc="-100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100" dirty="0">
                <a:solidFill>
                  <a:srgbClr val="32BD15"/>
                </a:solidFill>
                <a:latin typeface="Arial MT"/>
                <a:cs typeface="Arial MT"/>
              </a:rPr>
              <a:t>it</a:t>
            </a:r>
            <a:r>
              <a:rPr sz="3200" spc="-114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60" dirty="0">
                <a:solidFill>
                  <a:srgbClr val="32BD15"/>
                </a:solidFill>
                <a:latin typeface="Arial MT"/>
                <a:cs typeface="Arial MT"/>
              </a:rPr>
              <a:t>resolved</a:t>
            </a:r>
            <a:r>
              <a:rPr sz="3200" spc="-110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55" dirty="0">
                <a:solidFill>
                  <a:srgbClr val="32BD15"/>
                </a:solidFill>
                <a:latin typeface="Arial MT"/>
                <a:cs typeface="Arial MT"/>
              </a:rPr>
              <a:t>to</a:t>
            </a:r>
            <a:r>
              <a:rPr sz="3200" spc="-114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{1,</a:t>
            </a:r>
            <a:r>
              <a:rPr sz="3200" spc="-110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25" dirty="0">
                <a:solidFill>
                  <a:srgbClr val="32BD15"/>
                </a:solidFill>
                <a:latin typeface="Arial MT"/>
                <a:cs typeface="Arial MT"/>
              </a:rPr>
              <a:t>2}</a:t>
            </a:r>
            <a:endParaRPr sz="3200">
              <a:latin typeface="Arial MT"/>
              <a:cs typeface="Arial MT"/>
            </a:endParaRPr>
          </a:p>
        </p:txBody>
      </p:sp>
    </p:spTree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14" dirty="0">
                <a:solidFill>
                  <a:srgbClr val="FFFFFF"/>
                </a:solidFill>
              </a:rPr>
              <a:t>Set</a:t>
            </a:r>
            <a:r>
              <a:rPr spc="-345" dirty="0">
                <a:solidFill>
                  <a:srgbClr val="FFFFFF"/>
                </a:solidFill>
              </a:rPr>
              <a:t> </a:t>
            </a:r>
            <a:r>
              <a:rPr spc="-80" dirty="0"/>
              <a:t>Methods</a:t>
            </a:r>
          </a:p>
        </p:txBody>
      </p:sp>
      <p:sp>
        <p:nvSpPr>
          <p:cNvPr id="3" name="object 3"/>
          <p:cNvSpPr/>
          <p:nvPr/>
        </p:nvSpPr>
        <p:spPr>
          <a:xfrm>
            <a:off x="989578" y="1844194"/>
            <a:ext cx="3597275" cy="24130"/>
          </a:xfrm>
          <a:custGeom>
            <a:avLst/>
            <a:gdLst/>
            <a:ahLst/>
            <a:cxnLst/>
            <a:rect l="l" t="t" r="r" b="b"/>
            <a:pathLst>
              <a:path w="3597275" h="24130">
                <a:moveTo>
                  <a:pt x="0" y="23501"/>
                </a:moveTo>
                <a:lnTo>
                  <a:pt x="3597213" y="0"/>
                </a:lnTo>
              </a:path>
            </a:pathLst>
          </a:custGeom>
          <a:ln w="47624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1016000" y="2505138"/>
            <a:ext cx="6899275" cy="4376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2291080" algn="l"/>
              </a:tabLst>
            </a:pPr>
            <a:r>
              <a:rPr sz="3200" spc="-85" dirty="0">
                <a:solidFill>
                  <a:srgbClr val="FFFFFF"/>
                </a:solidFill>
                <a:latin typeface="Arial MT"/>
                <a:cs typeface="Arial MT"/>
              </a:rPr>
              <a:t>set.</a:t>
            </a:r>
            <a:r>
              <a:rPr sz="3200" b="1" spc="-85" dirty="0">
                <a:solidFill>
                  <a:srgbClr val="3BE2EC"/>
                </a:solidFill>
                <a:latin typeface="Arial"/>
                <a:cs typeface="Arial"/>
              </a:rPr>
              <a:t>add</a:t>
            </a:r>
            <a:r>
              <a:rPr sz="3200" spc="-85" dirty="0">
                <a:solidFill>
                  <a:srgbClr val="FFFFFF"/>
                </a:solidFill>
                <a:latin typeface="Arial MT"/>
                <a:cs typeface="Arial MT"/>
              </a:rPr>
              <a:t>(</a:t>
            </a:r>
            <a:r>
              <a:rPr sz="3200" spc="-10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FFFFFF"/>
                </a:solidFill>
                <a:latin typeface="Arial MT"/>
                <a:cs typeface="Arial MT"/>
              </a:rPr>
              <a:t>el</a:t>
            </a:r>
            <a:r>
              <a:rPr sz="3200" spc="-10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200" spc="-50" dirty="0">
                <a:solidFill>
                  <a:srgbClr val="FFFFFF"/>
                </a:solidFill>
                <a:latin typeface="Arial MT"/>
                <a:cs typeface="Arial MT"/>
              </a:rPr>
              <a:t>)</a:t>
            </a:r>
            <a:r>
              <a:rPr sz="3200" dirty="0">
                <a:solidFill>
                  <a:srgbClr val="FFFFFF"/>
                </a:solidFill>
                <a:latin typeface="Arial MT"/>
                <a:cs typeface="Arial MT"/>
              </a:rPr>
              <a:t>	</a:t>
            </a: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#adds</a:t>
            </a:r>
            <a:r>
              <a:rPr sz="3200" spc="-175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50" dirty="0">
                <a:solidFill>
                  <a:srgbClr val="32BD15"/>
                </a:solidFill>
                <a:latin typeface="Arial MT"/>
                <a:cs typeface="Arial MT"/>
              </a:rPr>
              <a:t>an</a:t>
            </a:r>
            <a:r>
              <a:rPr sz="3200" spc="-170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10" dirty="0">
                <a:solidFill>
                  <a:srgbClr val="32BD15"/>
                </a:solidFill>
                <a:latin typeface="Arial MT"/>
                <a:cs typeface="Arial MT"/>
              </a:rPr>
              <a:t>element</a:t>
            </a:r>
            <a:endParaRPr sz="3200">
              <a:latin typeface="Arial MT"/>
              <a:cs typeface="Arial MT"/>
            </a:endParaRPr>
          </a:p>
          <a:p>
            <a:pPr marL="12700" marR="5080">
              <a:lnSpc>
                <a:spcPct val="264200"/>
              </a:lnSpc>
              <a:tabLst>
                <a:tab pos="2092325" algn="l"/>
                <a:tab pos="2964180" algn="l"/>
              </a:tabLst>
            </a:pPr>
            <a:r>
              <a:rPr sz="3200" spc="-105" dirty="0">
                <a:solidFill>
                  <a:srgbClr val="FFFFFF"/>
                </a:solidFill>
                <a:latin typeface="Arial MT"/>
                <a:cs typeface="Arial MT"/>
              </a:rPr>
              <a:t>set.</a:t>
            </a:r>
            <a:r>
              <a:rPr sz="3200" b="1" spc="-105" dirty="0">
                <a:solidFill>
                  <a:srgbClr val="3BE2EC"/>
                </a:solidFill>
                <a:latin typeface="Arial"/>
                <a:cs typeface="Arial"/>
              </a:rPr>
              <a:t>remove</a:t>
            </a:r>
            <a:r>
              <a:rPr sz="3200" b="1" spc="-10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3200" b="1" spc="-7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dirty="0">
                <a:solidFill>
                  <a:srgbClr val="FFFFFF"/>
                </a:solidFill>
                <a:latin typeface="Arial MT"/>
                <a:cs typeface="Arial MT"/>
              </a:rPr>
              <a:t>el</a:t>
            </a:r>
            <a:r>
              <a:rPr sz="3200" spc="-14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200" b="1" spc="-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3200" b="1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3200" spc="-20" dirty="0">
                <a:solidFill>
                  <a:srgbClr val="32BD15"/>
                </a:solidFill>
                <a:latin typeface="Arial MT"/>
                <a:cs typeface="Arial MT"/>
              </a:rPr>
              <a:t>#removes</a:t>
            </a:r>
            <a:r>
              <a:rPr sz="3200" spc="-135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the</a:t>
            </a:r>
            <a:r>
              <a:rPr sz="3200" spc="-135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40" dirty="0">
                <a:solidFill>
                  <a:srgbClr val="32BD15"/>
                </a:solidFill>
                <a:latin typeface="Arial MT"/>
                <a:cs typeface="Arial MT"/>
              </a:rPr>
              <a:t>elem</a:t>
            </a:r>
            <a:r>
              <a:rPr sz="3200" spc="-135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25" dirty="0">
                <a:solidFill>
                  <a:srgbClr val="32BD15"/>
                </a:solidFill>
                <a:latin typeface="Arial MT"/>
                <a:cs typeface="Arial MT"/>
              </a:rPr>
              <a:t>an </a:t>
            </a:r>
            <a:r>
              <a:rPr sz="3200" spc="-75" dirty="0">
                <a:solidFill>
                  <a:srgbClr val="FFFFFF"/>
                </a:solidFill>
                <a:latin typeface="Arial MT"/>
                <a:cs typeface="Arial MT"/>
              </a:rPr>
              <a:t>set.</a:t>
            </a:r>
            <a:r>
              <a:rPr sz="3200" b="1" spc="-75" dirty="0">
                <a:solidFill>
                  <a:srgbClr val="3BE2EC"/>
                </a:solidFill>
                <a:latin typeface="Arial"/>
                <a:cs typeface="Arial"/>
              </a:rPr>
              <a:t>clear</a:t>
            </a:r>
            <a:r>
              <a:rPr sz="3200" b="1" spc="-7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3200" b="1" spc="-1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b="1" spc="-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3200" b="1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#empties</a:t>
            </a:r>
            <a:r>
              <a:rPr sz="3200" spc="-114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the</a:t>
            </a:r>
            <a:r>
              <a:rPr sz="3200" spc="-114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25" dirty="0">
                <a:solidFill>
                  <a:srgbClr val="32BD15"/>
                </a:solidFill>
                <a:latin typeface="Arial MT"/>
                <a:cs typeface="Arial MT"/>
              </a:rPr>
              <a:t>set</a:t>
            </a:r>
            <a:endParaRPr sz="32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2605"/>
              </a:spcBef>
            </a:pPr>
            <a:endParaRPr sz="3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1893570" algn="l"/>
              </a:tabLst>
            </a:pPr>
            <a:r>
              <a:rPr sz="3200" spc="-95" dirty="0">
                <a:solidFill>
                  <a:srgbClr val="FFFFFF"/>
                </a:solidFill>
                <a:latin typeface="Arial MT"/>
                <a:cs typeface="Arial MT"/>
              </a:rPr>
              <a:t>set.</a:t>
            </a:r>
            <a:r>
              <a:rPr sz="3200" b="1" spc="-95" dirty="0">
                <a:solidFill>
                  <a:srgbClr val="3BE2EC"/>
                </a:solidFill>
                <a:latin typeface="Arial"/>
                <a:cs typeface="Arial"/>
              </a:rPr>
              <a:t>pop</a:t>
            </a:r>
            <a:r>
              <a:rPr sz="3200" b="1" spc="-9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3200" b="1" spc="-6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b="1" spc="-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3200" b="1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3200" spc="-20" dirty="0">
                <a:solidFill>
                  <a:srgbClr val="32BD15"/>
                </a:solidFill>
                <a:latin typeface="Arial MT"/>
                <a:cs typeface="Arial MT"/>
              </a:rPr>
              <a:t>#removes</a:t>
            </a:r>
            <a:r>
              <a:rPr sz="3200" spc="-204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180" dirty="0">
                <a:solidFill>
                  <a:srgbClr val="32BD15"/>
                </a:solidFill>
                <a:latin typeface="Arial MT"/>
                <a:cs typeface="Arial MT"/>
              </a:rPr>
              <a:t>a</a:t>
            </a:r>
            <a:r>
              <a:rPr sz="3200" spc="-45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random</a:t>
            </a:r>
            <a:r>
              <a:rPr sz="3200" spc="-150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10" dirty="0">
                <a:solidFill>
                  <a:srgbClr val="32BD15"/>
                </a:solidFill>
                <a:latin typeface="Arial MT"/>
                <a:cs typeface="Arial MT"/>
              </a:rPr>
              <a:t>value</a:t>
            </a:r>
            <a:endParaRPr sz="3200">
              <a:latin typeface="Arial MT"/>
              <a:cs typeface="Arial MT"/>
            </a:endParaRPr>
          </a:p>
        </p:txBody>
      </p:sp>
    </p:spTree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78932" y="2328789"/>
            <a:ext cx="11577955" cy="15424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065145" algn="l"/>
              </a:tabLst>
            </a:pPr>
            <a:r>
              <a:rPr sz="3200" spc="-105" dirty="0">
                <a:solidFill>
                  <a:srgbClr val="FFFFFF"/>
                </a:solidFill>
                <a:latin typeface="Arial MT"/>
                <a:cs typeface="Arial MT"/>
              </a:rPr>
              <a:t>set.</a:t>
            </a:r>
            <a:r>
              <a:rPr sz="3200" b="1" spc="-105" dirty="0">
                <a:solidFill>
                  <a:srgbClr val="3BE2EC"/>
                </a:solidFill>
                <a:latin typeface="Arial"/>
                <a:cs typeface="Arial"/>
              </a:rPr>
              <a:t>union</a:t>
            </a:r>
            <a:r>
              <a:rPr sz="3200" b="1" spc="-105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3200" b="1" spc="-1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spc="-35" dirty="0">
                <a:solidFill>
                  <a:srgbClr val="FFFFFF"/>
                </a:solidFill>
                <a:latin typeface="Arial MT"/>
                <a:cs typeface="Arial MT"/>
              </a:rPr>
              <a:t>set2</a:t>
            </a:r>
            <a:r>
              <a:rPr sz="3200" spc="-95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200" b="1" spc="-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3200" b="1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3200" spc="-10" dirty="0">
                <a:solidFill>
                  <a:srgbClr val="32BD15"/>
                </a:solidFill>
                <a:latin typeface="Arial MT"/>
                <a:cs typeface="Arial MT"/>
              </a:rPr>
              <a:t>#combines</a:t>
            </a:r>
            <a:r>
              <a:rPr sz="3200" spc="-100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both</a:t>
            </a:r>
            <a:r>
              <a:rPr sz="3200" spc="-95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45" dirty="0">
                <a:solidFill>
                  <a:srgbClr val="32BD15"/>
                </a:solidFill>
                <a:latin typeface="Arial MT"/>
                <a:cs typeface="Arial MT"/>
              </a:rPr>
              <a:t>set</a:t>
            </a:r>
            <a:r>
              <a:rPr sz="3200" spc="-95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105" dirty="0">
                <a:solidFill>
                  <a:srgbClr val="32BD15"/>
                </a:solidFill>
                <a:latin typeface="Arial MT"/>
                <a:cs typeface="Arial MT"/>
              </a:rPr>
              <a:t>values</a:t>
            </a:r>
            <a:r>
              <a:rPr sz="3200" spc="-95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&amp;</a:t>
            </a:r>
            <a:r>
              <a:rPr sz="3200" spc="-100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returns</a:t>
            </a:r>
            <a:r>
              <a:rPr sz="3200" spc="-95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25" dirty="0">
                <a:solidFill>
                  <a:srgbClr val="32BD15"/>
                </a:solidFill>
                <a:latin typeface="Arial MT"/>
                <a:cs typeface="Arial MT"/>
              </a:rPr>
              <a:t>new</a:t>
            </a:r>
            <a:endParaRPr sz="32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580"/>
              </a:spcBef>
            </a:pPr>
            <a:endParaRPr sz="3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4202430" algn="l"/>
              </a:tabLst>
            </a:pPr>
            <a:r>
              <a:rPr sz="3200" spc="-100" dirty="0">
                <a:solidFill>
                  <a:srgbClr val="FFFFFF"/>
                </a:solidFill>
                <a:latin typeface="Arial MT"/>
                <a:cs typeface="Arial MT"/>
              </a:rPr>
              <a:t>set.</a:t>
            </a:r>
            <a:r>
              <a:rPr sz="3200" b="1" spc="-100" dirty="0">
                <a:solidFill>
                  <a:srgbClr val="3BE2EC"/>
                </a:solidFill>
                <a:latin typeface="Arial"/>
                <a:cs typeface="Arial"/>
              </a:rPr>
              <a:t>intersection</a:t>
            </a:r>
            <a:r>
              <a:rPr sz="3200" b="1" spc="-100" dirty="0">
                <a:solidFill>
                  <a:srgbClr val="FFFFFF"/>
                </a:solidFill>
                <a:latin typeface="Arial"/>
                <a:cs typeface="Arial"/>
              </a:rPr>
              <a:t>(</a:t>
            </a:r>
            <a:r>
              <a:rPr sz="3200" b="1" spc="-10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spc="-35" dirty="0">
                <a:solidFill>
                  <a:srgbClr val="FFFFFF"/>
                </a:solidFill>
                <a:latin typeface="Arial MT"/>
                <a:cs typeface="Arial MT"/>
              </a:rPr>
              <a:t>set2</a:t>
            </a:r>
            <a:r>
              <a:rPr sz="3200" spc="-20" dirty="0">
                <a:solidFill>
                  <a:srgbClr val="FFFFFF"/>
                </a:solidFill>
                <a:latin typeface="Arial MT"/>
                <a:cs typeface="Arial MT"/>
              </a:rPr>
              <a:t> </a:t>
            </a:r>
            <a:r>
              <a:rPr sz="3200" b="1" spc="-5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r>
              <a:rPr sz="3200" b="1" dirty="0">
                <a:solidFill>
                  <a:srgbClr val="FFFFFF"/>
                </a:solidFill>
                <a:latin typeface="Arial"/>
                <a:cs typeface="Arial"/>
              </a:rPr>
              <a:t>	</a:t>
            </a:r>
            <a:r>
              <a:rPr sz="3200" spc="-10" dirty="0">
                <a:solidFill>
                  <a:srgbClr val="32BD15"/>
                </a:solidFill>
                <a:latin typeface="Arial MT"/>
                <a:cs typeface="Arial MT"/>
              </a:rPr>
              <a:t>#combines</a:t>
            </a:r>
            <a:r>
              <a:rPr sz="3200" spc="-125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20" dirty="0">
                <a:solidFill>
                  <a:srgbClr val="32BD15"/>
                </a:solidFill>
                <a:latin typeface="Arial MT"/>
                <a:cs typeface="Arial MT"/>
              </a:rPr>
              <a:t>common</a:t>
            </a:r>
            <a:r>
              <a:rPr sz="3200" spc="-120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105" dirty="0">
                <a:solidFill>
                  <a:srgbClr val="32BD15"/>
                </a:solidFill>
                <a:latin typeface="Arial MT"/>
                <a:cs typeface="Arial MT"/>
              </a:rPr>
              <a:t>values</a:t>
            </a:r>
            <a:r>
              <a:rPr sz="3200" spc="-120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&amp;</a:t>
            </a:r>
            <a:r>
              <a:rPr sz="3200" spc="-120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dirty="0">
                <a:solidFill>
                  <a:srgbClr val="32BD15"/>
                </a:solidFill>
                <a:latin typeface="Arial MT"/>
                <a:cs typeface="Arial MT"/>
              </a:rPr>
              <a:t>returns</a:t>
            </a:r>
            <a:r>
              <a:rPr sz="3200" spc="-120" dirty="0">
                <a:solidFill>
                  <a:srgbClr val="32BD15"/>
                </a:solidFill>
                <a:latin typeface="Arial MT"/>
                <a:cs typeface="Arial MT"/>
              </a:rPr>
              <a:t> </a:t>
            </a:r>
            <a:r>
              <a:rPr sz="3200" spc="-25" dirty="0">
                <a:solidFill>
                  <a:srgbClr val="32BD15"/>
                </a:solidFill>
                <a:latin typeface="Arial MT"/>
                <a:cs typeface="Arial MT"/>
              </a:rPr>
              <a:t>new</a:t>
            </a:r>
            <a:endParaRPr sz="3200">
              <a:latin typeface="Arial MT"/>
              <a:cs typeface="Arial MT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14" dirty="0">
                <a:solidFill>
                  <a:srgbClr val="FFFFFF"/>
                </a:solidFill>
              </a:rPr>
              <a:t>Set</a:t>
            </a:r>
            <a:r>
              <a:rPr spc="-345" dirty="0">
                <a:solidFill>
                  <a:srgbClr val="FFFFFF"/>
                </a:solidFill>
              </a:rPr>
              <a:t> </a:t>
            </a:r>
            <a:r>
              <a:rPr spc="-80" dirty="0"/>
              <a:t>Methods</a:t>
            </a:r>
          </a:p>
        </p:txBody>
      </p:sp>
      <p:sp>
        <p:nvSpPr>
          <p:cNvPr id="4" name="object 4"/>
          <p:cNvSpPr/>
          <p:nvPr/>
        </p:nvSpPr>
        <p:spPr>
          <a:xfrm>
            <a:off x="989578" y="1844195"/>
            <a:ext cx="3597275" cy="24130"/>
          </a:xfrm>
          <a:custGeom>
            <a:avLst/>
            <a:gdLst/>
            <a:ahLst/>
            <a:cxnLst/>
            <a:rect l="l" t="t" r="r" b="b"/>
            <a:pathLst>
              <a:path w="3597275" h="24130">
                <a:moveTo>
                  <a:pt x="0" y="23501"/>
                </a:moveTo>
                <a:lnTo>
                  <a:pt x="3597213" y="0"/>
                </a:lnTo>
              </a:path>
            </a:pathLst>
          </a:custGeom>
          <a:ln w="47624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masterClrMapping/>
  </p:clrMapOvr>
  <p:transition spd="med">
    <p:pull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BF3D5-E475-EE58-7BDC-54CF522877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5300"/>
            <a:ext cx="5800090" cy="848363"/>
          </a:xfrm>
        </p:spPr>
        <p:txBody>
          <a:bodyPr/>
          <a:lstStyle/>
          <a:p>
            <a:r>
              <a:rPr lang="en-US" spc="-114" dirty="0">
                <a:solidFill>
                  <a:srgbClr val="FFFFFF"/>
                </a:solidFill>
              </a:rPr>
              <a:t>Set</a:t>
            </a:r>
            <a:r>
              <a:rPr lang="en-US" spc="-345" dirty="0">
                <a:solidFill>
                  <a:srgbClr val="FFFFFF"/>
                </a:solidFill>
              </a:rPr>
              <a:t> </a:t>
            </a:r>
            <a:r>
              <a:rPr lang="en-US" spc="-80" dirty="0"/>
              <a:t>Methods</a:t>
            </a:r>
            <a:endParaRPr lang="en-US" dirty="0"/>
          </a:p>
        </p:txBody>
      </p:sp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B3BDE483-3075-7F77-2DBD-97B34194BC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97" t="9016" r="5677" b="10655"/>
          <a:stretch>
            <a:fillRect/>
          </a:stretch>
        </p:blipFill>
        <p:spPr>
          <a:xfrm>
            <a:off x="2971800" y="1485900"/>
            <a:ext cx="14173200" cy="8627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693737"/>
      </p:ext>
    </p:extLst>
  </p:cSld>
  <p:clrMapOvr>
    <a:masterClrMapping/>
  </p:clrMapOvr>
  <p:transition spd="med">
    <p:pull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8CCB2-6B01-A013-33AA-0DDC031F1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B66BA07C-2E60-650E-B0F7-6D97998B2A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52912" y="431524"/>
            <a:ext cx="5800090" cy="8483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Let‘s</a:t>
            </a:r>
            <a:r>
              <a:rPr spc="-415" dirty="0"/>
              <a:t> </a:t>
            </a:r>
            <a:r>
              <a:rPr spc="-30" dirty="0"/>
              <a:t>Practice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D0BB3057-C20E-C78C-1BCB-CADABB736FFC}"/>
              </a:ext>
            </a:extLst>
          </p:cNvPr>
          <p:cNvSpPr/>
          <p:nvPr/>
        </p:nvSpPr>
        <p:spPr>
          <a:xfrm>
            <a:off x="1003957" y="1317987"/>
            <a:ext cx="3832225" cy="24130"/>
          </a:xfrm>
          <a:custGeom>
            <a:avLst/>
            <a:gdLst/>
            <a:ahLst/>
            <a:cxnLst/>
            <a:rect l="l" t="t" r="r" b="b"/>
            <a:pathLst>
              <a:path w="3832225" h="24130">
                <a:moveTo>
                  <a:pt x="0" y="23520"/>
                </a:moveTo>
                <a:lnTo>
                  <a:pt x="3831978" y="0"/>
                </a:lnTo>
              </a:path>
            </a:pathLst>
          </a:custGeom>
          <a:ln w="47624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64B172DB-CF5B-4DDB-198E-AD663E01FDD2}"/>
              </a:ext>
            </a:extLst>
          </p:cNvPr>
          <p:cNvSpPr txBox="1"/>
          <p:nvPr/>
        </p:nvSpPr>
        <p:spPr>
          <a:xfrm>
            <a:off x="952912" y="1638300"/>
            <a:ext cx="14293215" cy="331654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spc="-55" dirty="0">
                <a:solidFill>
                  <a:srgbClr val="FFFFFF"/>
                </a:solidFill>
                <a:latin typeface="Tahoma"/>
                <a:cs typeface="Tahoma"/>
              </a:rPr>
              <a:t>Store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60" dirty="0">
                <a:solidFill>
                  <a:srgbClr val="FFFFFF"/>
                </a:solidFill>
                <a:latin typeface="Tahoma"/>
                <a:cs typeface="Tahoma"/>
              </a:rPr>
              <a:t>following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35" dirty="0">
                <a:solidFill>
                  <a:srgbClr val="FFFFFF"/>
                </a:solidFill>
                <a:latin typeface="Tahoma"/>
                <a:cs typeface="Tahoma"/>
              </a:rPr>
              <a:t>word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10" dirty="0">
                <a:solidFill>
                  <a:srgbClr val="FFFFFF"/>
                </a:solidFill>
                <a:latin typeface="Tahoma"/>
                <a:cs typeface="Tahoma"/>
              </a:rPr>
              <a:t>meanings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dirty="0">
                <a:solidFill>
                  <a:srgbClr val="FFFFFF"/>
                </a:solidFill>
                <a:latin typeface="Tahoma"/>
                <a:cs typeface="Tahoma"/>
              </a:rPr>
              <a:t>in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90" dirty="0">
                <a:solidFill>
                  <a:srgbClr val="FFFFFF"/>
                </a:solidFill>
                <a:latin typeface="Tahoma"/>
                <a:cs typeface="Tahoma"/>
              </a:rPr>
              <a:t>a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05" dirty="0">
                <a:solidFill>
                  <a:srgbClr val="FFFFFF"/>
                </a:solidFill>
                <a:latin typeface="Tahoma"/>
                <a:cs typeface="Tahoma"/>
              </a:rPr>
              <a:t>python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50" dirty="0">
                <a:solidFill>
                  <a:srgbClr val="FFFFFF"/>
                </a:solidFill>
                <a:latin typeface="Tahoma"/>
                <a:cs typeface="Tahoma"/>
              </a:rPr>
              <a:t>dictionary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395" dirty="0">
                <a:solidFill>
                  <a:srgbClr val="FFFFFF"/>
                </a:solidFill>
                <a:latin typeface="Tahoma"/>
                <a:cs typeface="Tahoma"/>
              </a:rPr>
              <a:t>:</a:t>
            </a:r>
            <a:endParaRPr sz="3200" dirty="0">
              <a:latin typeface="Tahoma"/>
              <a:cs typeface="Tahoma"/>
            </a:endParaRPr>
          </a:p>
          <a:p>
            <a:pPr marL="654685" marR="4391660">
              <a:lnSpc>
                <a:spcPct val="162300"/>
              </a:lnSpc>
              <a:spcBef>
                <a:spcPts val="409"/>
              </a:spcBef>
            </a:pPr>
            <a:r>
              <a:rPr sz="3200" i="1" dirty="0">
                <a:solidFill>
                  <a:srgbClr val="FFFFFF"/>
                </a:solidFill>
                <a:latin typeface="Arial"/>
                <a:cs typeface="Arial"/>
              </a:rPr>
              <a:t>table</a:t>
            </a:r>
            <a:r>
              <a:rPr sz="3200" i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i="1" spc="165" dirty="0">
                <a:solidFill>
                  <a:srgbClr val="FFFFFF"/>
                </a:solidFill>
                <a:latin typeface="Arial"/>
                <a:cs typeface="Arial"/>
              </a:rPr>
              <a:t>:</a:t>
            </a:r>
            <a:r>
              <a:rPr sz="3200" i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i="1" spc="135" dirty="0">
                <a:solidFill>
                  <a:srgbClr val="FFFFFF"/>
                </a:solidFill>
                <a:latin typeface="Arial"/>
                <a:cs typeface="Arial"/>
              </a:rPr>
              <a:t>“a</a:t>
            </a:r>
            <a:r>
              <a:rPr sz="3200" i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i="1" spc="-55" dirty="0">
                <a:solidFill>
                  <a:srgbClr val="FFFFFF"/>
                </a:solidFill>
                <a:latin typeface="Arial"/>
                <a:cs typeface="Arial"/>
              </a:rPr>
              <a:t>piece</a:t>
            </a:r>
            <a:r>
              <a:rPr sz="3200" i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i="1" spc="75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3200" i="1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i="1" spc="75" dirty="0">
                <a:solidFill>
                  <a:srgbClr val="FFFFFF"/>
                </a:solidFill>
                <a:latin typeface="Arial"/>
                <a:cs typeface="Arial"/>
              </a:rPr>
              <a:t>furniture”,</a:t>
            </a:r>
            <a:r>
              <a:rPr sz="3200" i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i="1" spc="65" dirty="0">
                <a:solidFill>
                  <a:srgbClr val="FFFFFF"/>
                </a:solidFill>
                <a:latin typeface="Arial"/>
                <a:cs typeface="Arial"/>
              </a:rPr>
              <a:t>“list</a:t>
            </a:r>
            <a:r>
              <a:rPr sz="3200" i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i="1" spc="75" dirty="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sz="3200" i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i="1" dirty="0">
                <a:solidFill>
                  <a:srgbClr val="FFFFFF"/>
                </a:solidFill>
                <a:latin typeface="Arial"/>
                <a:cs typeface="Arial"/>
              </a:rPr>
              <a:t>facts</a:t>
            </a:r>
            <a:r>
              <a:rPr sz="3200" i="1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i="1" dirty="0">
                <a:solidFill>
                  <a:srgbClr val="FFFFFF"/>
                </a:solidFill>
                <a:latin typeface="Arial"/>
                <a:cs typeface="Arial"/>
              </a:rPr>
              <a:t>&amp;</a:t>
            </a:r>
            <a:r>
              <a:rPr sz="3200" i="1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i="1" spc="-10" dirty="0">
                <a:solidFill>
                  <a:srgbClr val="FFFFFF"/>
                </a:solidFill>
                <a:latin typeface="Arial"/>
                <a:cs typeface="Arial"/>
              </a:rPr>
              <a:t>figures” </a:t>
            </a:r>
            <a:r>
              <a:rPr sz="3200" i="1" dirty="0">
                <a:solidFill>
                  <a:srgbClr val="FFFFFF"/>
                </a:solidFill>
                <a:latin typeface="Arial"/>
                <a:cs typeface="Arial"/>
              </a:rPr>
              <a:t>cat</a:t>
            </a:r>
            <a:r>
              <a:rPr sz="3200" i="1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i="1" spc="165" dirty="0">
                <a:solidFill>
                  <a:srgbClr val="FFFFFF"/>
                </a:solidFill>
                <a:latin typeface="Arial"/>
                <a:cs typeface="Arial"/>
              </a:rPr>
              <a:t>:</a:t>
            </a:r>
            <a:r>
              <a:rPr sz="3200" i="1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i="1" spc="135" dirty="0">
                <a:solidFill>
                  <a:srgbClr val="FFFFFF"/>
                </a:solidFill>
                <a:latin typeface="Arial"/>
                <a:cs typeface="Arial"/>
              </a:rPr>
              <a:t>“a</a:t>
            </a:r>
            <a:r>
              <a:rPr sz="3200" i="1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i="1" dirty="0">
                <a:solidFill>
                  <a:srgbClr val="FFFFFF"/>
                </a:solidFill>
                <a:latin typeface="Arial"/>
                <a:cs typeface="Arial"/>
              </a:rPr>
              <a:t>small</a:t>
            </a:r>
            <a:r>
              <a:rPr sz="3200" i="1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i="1" spc="35" dirty="0">
                <a:solidFill>
                  <a:srgbClr val="FFFFFF"/>
                </a:solidFill>
                <a:latin typeface="Arial"/>
                <a:cs typeface="Arial"/>
              </a:rPr>
              <a:t>animal”</a:t>
            </a:r>
            <a:endParaRPr sz="3200" dirty="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32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395"/>
              </a:spcBef>
            </a:pPr>
            <a:endParaRPr sz="3200" dirty="0">
              <a:latin typeface="Arial"/>
              <a:cs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5F415D-E47F-B285-7D6C-15F526EAC6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77" t="14033" r="8474" b="12816"/>
          <a:stretch>
            <a:fillRect/>
          </a:stretch>
        </p:blipFill>
        <p:spPr>
          <a:xfrm>
            <a:off x="4836182" y="4000500"/>
            <a:ext cx="12817791" cy="6038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842209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2912" y="372927"/>
            <a:ext cx="5800090" cy="8483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Let‘s</a:t>
            </a:r>
            <a:r>
              <a:rPr spc="-415" dirty="0"/>
              <a:t> </a:t>
            </a:r>
            <a:r>
              <a:rPr spc="-30" dirty="0"/>
              <a:t>Practice</a:t>
            </a:r>
          </a:p>
        </p:txBody>
      </p:sp>
      <p:sp>
        <p:nvSpPr>
          <p:cNvPr id="3" name="object 3"/>
          <p:cNvSpPr/>
          <p:nvPr/>
        </p:nvSpPr>
        <p:spPr>
          <a:xfrm>
            <a:off x="952912" y="1251120"/>
            <a:ext cx="3832225" cy="24130"/>
          </a:xfrm>
          <a:custGeom>
            <a:avLst/>
            <a:gdLst/>
            <a:ahLst/>
            <a:cxnLst/>
            <a:rect l="l" t="t" r="r" b="b"/>
            <a:pathLst>
              <a:path w="3832225" h="24130">
                <a:moveTo>
                  <a:pt x="0" y="23520"/>
                </a:moveTo>
                <a:lnTo>
                  <a:pt x="3831978" y="0"/>
                </a:lnTo>
              </a:path>
            </a:pathLst>
          </a:custGeom>
          <a:ln w="47624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52912" y="1562100"/>
            <a:ext cx="14293215" cy="28151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5565" marR="5080">
              <a:lnSpc>
                <a:spcPct val="115199"/>
              </a:lnSpc>
            </a:pPr>
            <a:r>
              <a:rPr sz="3200" spc="-180" dirty="0">
                <a:solidFill>
                  <a:srgbClr val="FFFFFF"/>
                </a:solidFill>
                <a:latin typeface="Tahoma"/>
                <a:cs typeface="Tahoma"/>
              </a:rPr>
              <a:t>You</a:t>
            </a:r>
            <a:r>
              <a:rPr sz="3200" spc="-204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90" dirty="0">
                <a:solidFill>
                  <a:srgbClr val="FFFFFF"/>
                </a:solidFill>
                <a:latin typeface="Tahoma"/>
                <a:cs typeface="Tahoma"/>
              </a:rPr>
              <a:t>are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85" dirty="0">
                <a:solidFill>
                  <a:srgbClr val="FFFFFF"/>
                </a:solidFill>
                <a:latin typeface="Tahoma"/>
                <a:cs typeface="Tahoma"/>
              </a:rPr>
              <a:t>given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90" dirty="0">
                <a:solidFill>
                  <a:srgbClr val="FFFFFF"/>
                </a:solidFill>
                <a:latin typeface="Tahoma"/>
                <a:cs typeface="Tahoma"/>
              </a:rPr>
              <a:t>a</a:t>
            </a:r>
            <a:r>
              <a:rPr sz="3200" spc="-204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70" dirty="0">
                <a:solidFill>
                  <a:srgbClr val="FFFFFF"/>
                </a:solidFill>
                <a:latin typeface="Tahoma"/>
                <a:cs typeface="Tahoma"/>
              </a:rPr>
              <a:t>list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70" dirty="0">
                <a:solidFill>
                  <a:srgbClr val="FFFFFF"/>
                </a:solidFill>
                <a:latin typeface="Tahoma"/>
                <a:cs typeface="Tahoma"/>
              </a:rPr>
              <a:t>of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55" dirty="0">
                <a:solidFill>
                  <a:srgbClr val="FFFFFF"/>
                </a:solidFill>
                <a:latin typeface="Tahoma"/>
                <a:cs typeface="Tahoma"/>
              </a:rPr>
              <a:t>subjects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dirty="0">
                <a:solidFill>
                  <a:srgbClr val="FFFFFF"/>
                </a:solidFill>
                <a:latin typeface="Tahoma"/>
                <a:cs typeface="Tahoma"/>
              </a:rPr>
              <a:t>for</a:t>
            </a:r>
            <a:r>
              <a:rPr sz="3200" spc="-204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65" dirty="0">
                <a:solidFill>
                  <a:srgbClr val="FFFFFF"/>
                </a:solidFill>
                <a:latin typeface="Tahoma"/>
                <a:cs typeface="Tahoma"/>
              </a:rPr>
              <a:t>students.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30" dirty="0">
                <a:solidFill>
                  <a:srgbClr val="FFFFFF"/>
                </a:solidFill>
                <a:latin typeface="Tahoma"/>
                <a:cs typeface="Tahoma"/>
              </a:rPr>
              <a:t>Assume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55" dirty="0">
                <a:solidFill>
                  <a:srgbClr val="FFFFFF"/>
                </a:solidFill>
                <a:latin typeface="Tahoma"/>
                <a:cs typeface="Tahoma"/>
              </a:rPr>
              <a:t>one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85" dirty="0">
                <a:solidFill>
                  <a:srgbClr val="FFFFFF"/>
                </a:solidFill>
                <a:latin typeface="Tahoma"/>
                <a:cs typeface="Tahoma"/>
              </a:rPr>
              <a:t>classroom</a:t>
            </a:r>
            <a:r>
              <a:rPr sz="3200" spc="-204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55" dirty="0">
                <a:solidFill>
                  <a:srgbClr val="FFFFFF"/>
                </a:solidFill>
                <a:latin typeface="Tahoma"/>
                <a:cs typeface="Tahoma"/>
              </a:rPr>
              <a:t>is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55" dirty="0">
                <a:solidFill>
                  <a:srgbClr val="FFFFFF"/>
                </a:solidFill>
                <a:latin typeface="Tahoma"/>
                <a:cs typeface="Tahoma"/>
              </a:rPr>
              <a:t>required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dirty="0">
                <a:solidFill>
                  <a:srgbClr val="FFFFFF"/>
                </a:solidFill>
                <a:latin typeface="Tahoma"/>
                <a:cs typeface="Tahoma"/>
              </a:rPr>
              <a:t>for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350" dirty="0">
                <a:solidFill>
                  <a:srgbClr val="FFFFFF"/>
                </a:solidFill>
                <a:latin typeface="Tahoma"/>
                <a:cs typeface="Tahoma"/>
              </a:rPr>
              <a:t>1 </a:t>
            </a:r>
            <a:r>
              <a:rPr sz="3200" spc="-85" dirty="0">
                <a:solidFill>
                  <a:srgbClr val="FFFFFF"/>
                </a:solidFill>
                <a:latin typeface="Tahoma"/>
                <a:cs typeface="Tahoma"/>
              </a:rPr>
              <a:t>subject.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290" dirty="0">
                <a:solidFill>
                  <a:srgbClr val="FFFFFF"/>
                </a:solidFill>
                <a:latin typeface="Tahoma"/>
                <a:cs typeface="Tahoma"/>
              </a:rPr>
              <a:t>How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204" dirty="0">
                <a:solidFill>
                  <a:srgbClr val="FFFFFF"/>
                </a:solidFill>
                <a:latin typeface="Tahoma"/>
                <a:cs typeface="Tahoma"/>
              </a:rPr>
              <a:t>many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75" dirty="0">
                <a:solidFill>
                  <a:srgbClr val="FFFFFF"/>
                </a:solidFill>
                <a:latin typeface="Tahoma"/>
                <a:cs typeface="Tahoma"/>
              </a:rPr>
              <a:t>classrooms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90" dirty="0">
                <a:solidFill>
                  <a:srgbClr val="FFFFFF"/>
                </a:solidFill>
                <a:latin typeface="Tahoma"/>
                <a:cs typeface="Tahoma"/>
              </a:rPr>
              <a:t>are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55" dirty="0">
                <a:solidFill>
                  <a:srgbClr val="FFFFFF"/>
                </a:solidFill>
                <a:latin typeface="Tahoma"/>
                <a:cs typeface="Tahoma"/>
              </a:rPr>
              <a:t>needed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70" dirty="0">
                <a:solidFill>
                  <a:srgbClr val="FFFFFF"/>
                </a:solidFill>
                <a:latin typeface="Tahoma"/>
                <a:cs typeface="Tahoma"/>
              </a:rPr>
              <a:t>by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dirty="0">
                <a:solidFill>
                  <a:srgbClr val="FFFFFF"/>
                </a:solidFill>
                <a:latin typeface="Tahoma"/>
                <a:cs typeface="Tahoma"/>
              </a:rPr>
              <a:t>all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0" dirty="0">
                <a:solidFill>
                  <a:srgbClr val="FFFFFF"/>
                </a:solidFill>
                <a:latin typeface="Tahoma"/>
                <a:cs typeface="Tahoma"/>
              </a:rPr>
              <a:t>students.</a:t>
            </a:r>
            <a:endParaRPr sz="3200" dirty="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385"/>
              </a:spcBef>
            </a:pPr>
            <a:endParaRPr sz="3200" dirty="0">
              <a:latin typeface="Tahoma"/>
              <a:cs typeface="Tahoma"/>
            </a:endParaRPr>
          </a:p>
          <a:p>
            <a:pPr marL="245745">
              <a:lnSpc>
                <a:spcPct val="100000"/>
              </a:lnSpc>
            </a:pPr>
            <a:r>
              <a:rPr sz="3200" i="1" spc="70" dirty="0">
                <a:solidFill>
                  <a:srgbClr val="FFFFFF"/>
                </a:solidFill>
                <a:latin typeface="Arial"/>
                <a:cs typeface="Arial"/>
              </a:rPr>
              <a:t>”python”,</a:t>
            </a:r>
            <a:r>
              <a:rPr sz="3200" i="1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i="1" spc="80" dirty="0">
                <a:solidFill>
                  <a:srgbClr val="FFFFFF"/>
                </a:solidFill>
                <a:latin typeface="Arial"/>
                <a:cs typeface="Arial"/>
              </a:rPr>
              <a:t>“java”,</a:t>
            </a:r>
            <a:r>
              <a:rPr sz="3200" i="1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i="1" spc="130" dirty="0">
                <a:solidFill>
                  <a:srgbClr val="FFFFFF"/>
                </a:solidFill>
                <a:latin typeface="Arial"/>
                <a:cs typeface="Arial"/>
              </a:rPr>
              <a:t>“C++”,</a:t>
            </a:r>
            <a:r>
              <a:rPr sz="3200" i="1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i="1" spc="70" dirty="0">
                <a:solidFill>
                  <a:srgbClr val="FFFFFF"/>
                </a:solidFill>
                <a:latin typeface="Arial"/>
                <a:cs typeface="Arial"/>
              </a:rPr>
              <a:t>“python”,</a:t>
            </a:r>
            <a:r>
              <a:rPr sz="3200" i="1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i="1" spc="35" dirty="0">
                <a:solidFill>
                  <a:srgbClr val="FFFFFF"/>
                </a:solidFill>
                <a:latin typeface="Arial"/>
                <a:cs typeface="Arial"/>
              </a:rPr>
              <a:t>“javascript”,</a:t>
            </a:r>
            <a:endParaRPr sz="3200" dirty="0">
              <a:latin typeface="Arial"/>
              <a:cs typeface="Arial"/>
            </a:endParaRPr>
          </a:p>
          <a:p>
            <a:pPr marL="245745">
              <a:lnSpc>
                <a:spcPct val="100000"/>
              </a:lnSpc>
              <a:spcBef>
                <a:spcPts val="1110"/>
              </a:spcBef>
            </a:pPr>
            <a:r>
              <a:rPr sz="3200" i="1" spc="80" dirty="0">
                <a:solidFill>
                  <a:srgbClr val="FFFFFF"/>
                </a:solidFill>
                <a:latin typeface="Arial"/>
                <a:cs typeface="Arial"/>
              </a:rPr>
              <a:t>“java”,</a:t>
            </a:r>
            <a:r>
              <a:rPr sz="3200" i="1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i="1" spc="70" dirty="0">
                <a:solidFill>
                  <a:srgbClr val="FFFFFF"/>
                </a:solidFill>
                <a:latin typeface="Arial"/>
                <a:cs typeface="Arial"/>
              </a:rPr>
              <a:t>“python”,</a:t>
            </a:r>
            <a:r>
              <a:rPr sz="3200" i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i="1" spc="80" dirty="0">
                <a:solidFill>
                  <a:srgbClr val="FFFFFF"/>
                </a:solidFill>
                <a:latin typeface="Arial"/>
                <a:cs typeface="Arial"/>
              </a:rPr>
              <a:t>“java”,</a:t>
            </a:r>
            <a:r>
              <a:rPr sz="3200" i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i="1" spc="130" dirty="0">
                <a:solidFill>
                  <a:srgbClr val="FFFFFF"/>
                </a:solidFill>
                <a:latin typeface="Arial"/>
                <a:cs typeface="Arial"/>
              </a:rPr>
              <a:t>“C++”,</a:t>
            </a:r>
            <a:r>
              <a:rPr sz="3200" i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3200" i="1" spc="135" dirty="0">
                <a:solidFill>
                  <a:srgbClr val="FFFFFF"/>
                </a:solidFill>
                <a:latin typeface="Arial"/>
                <a:cs typeface="Arial"/>
              </a:rPr>
              <a:t>“C”</a:t>
            </a:r>
            <a:endParaRPr sz="3200" dirty="0">
              <a:latin typeface="Arial"/>
              <a:cs typeface="Arial"/>
            </a:endParaRPr>
          </a:p>
        </p:txBody>
      </p:sp>
      <p:pic>
        <p:nvPicPr>
          <p:cNvPr id="8" name="Picture 7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707850B2-3140-AEE0-E32D-86AF16905E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43" t="11690" r="4008" b="11690"/>
          <a:stretch>
            <a:fillRect/>
          </a:stretch>
        </p:blipFill>
        <p:spPr>
          <a:xfrm>
            <a:off x="964414" y="4718039"/>
            <a:ext cx="16506792" cy="5196033"/>
          </a:xfrm>
          <a:prstGeom prst="rect">
            <a:avLst/>
          </a:prstGeom>
        </p:spPr>
      </p:pic>
    </p:spTree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Let‘s</a:t>
            </a:r>
            <a:r>
              <a:rPr spc="-415" dirty="0"/>
              <a:t> </a:t>
            </a:r>
            <a:r>
              <a:rPr spc="-30" dirty="0"/>
              <a:t>Practice</a:t>
            </a:r>
          </a:p>
        </p:txBody>
      </p:sp>
      <p:sp>
        <p:nvSpPr>
          <p:cNvPr id="3" name="object 3"/>
          <p:cNvSpPr/>
          <p:nvPr/>
        </p:nvSpPr>
        <p:spPr>
          <a:xfrm>
            <a:off x="989579" y="1844187"/>
            <a:ext cx="3832225" cy="24130"/>
          </a:xfrm>
          <a:custGeom>
            <a:avLst/>
            <a:gdLst/>
            <a:ahLst/>
            <a:cxnLst/>
            <a:rect l="l" t="t" r="r" b="b"/>
            <a:pathLst>
              <a:path w="3832225" h="24130">
                <a:moveTo>
                  <a:pt x="0" y="23520"/>
                </a:moveTo>
                <a:lnTo>
                  <a:pt x="3831978" y="0"/>
                </a:lnTo>
              </a:path>
            </a:pathLst>
          </a:custGeom>
          <a:ln w="47624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952912" y="1949168"/>
            <a:ext cx="15126335" cy="11493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199"/>
              </a:lnSpc>
              <a:spcBef>
                <a:spcPts val="100"/>
              </a:spcBef>
            </a:pPr>
            <a:r>
              <a:rPr sz="3200" spc="-235" dirty="0">
                <a:solidFill>
                  <a:srgbClr val="FFFFFF"/>
                </a:solidFill>
                <a:latin typeface="Tahoma"/>
                <a:cs typeface="Tahoma"/>
              </a:rPr>
              <a:t>WAP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60" dirty="0">
                <a:solidFill>
                  <a:srgbClr val="FFFFFF"/>
                </a:solidFill>
                <a:latin typeface="Tahoma"/>
                <a:cs typeface="Tahoma"/>
              </a:rPr>
              <a:t>to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50" dirty="0">
                <a:solidFill>
                  <a:srgbClr val="FFFFFF"/>
                </a:solidFill>
                <a:latin typeface="Tahoma"/>
                <a:cs typeface="Tahoma"/>
              </a:rPr>
              <a:t>enter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90" dirty="0">
                <a:solidFill>
                  <a:srgbClr val="FFFFFF"/>
                </a:solidFill>
                <a:latin typeface="Tahoma"/>
                <a:cs typeface="Tahoma"/>
              </a:rPr>
              <a:t>marks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70" dirty="0">
                <a:solidFill>
                  <a:srgbClr val="FFFFFF"/>
                </a:solidFill>
                <a:latin typeface="Tahoma"/>
                <a:cs typeface="Tahoma"/>
              </a:rPr>
              <a:t>of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95" dirty="0">
                <a:solidFill>
                  <a:srgbClr val="FFFFFF"/>
                </a:solidFill>
                <a:latin typeface="Tahoma"/>
                <a:cs typeface="Tahoma"/>
              </a:rPr>
              <a:t>3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55" dirty="0">
                <a:solidFill>
                  <a:srgbClr val="FFFFFF"/>
                </a:solidFill>
                <a:latin typeface="Tahoma"/>
                <a:cs typeface="Tahoma"/>
              </a:rPr>
              <a:t>subjects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95" dirty="0">
                <a:solidFill>
                  <a:srgbClr val="FFFFFF"/>
                </a:solidFill>
                <a:latin typeface="Tahoma"/>
                <a:cs typeface="Tahoma"/>
              </a:rPr>
              <a:t>from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70" dirty="0">
                <a:solidFill>
                  <a:srgbClr val="FFFFFF"/>
                </a:solidFill>
                <a:latin typeface="Tahoma"/>
                <a:cs typeface="Tahoma"/>
              </a:rPr>
              <a:t>the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30" dirty="0">
                <a:solidFill>
                  <a:srgbClr val="FFFFFF"/>
                </a:solidFill>
                <a:latin typeface="Tahoma"/>
                <a:cs typeface="Tahoma"/>
              </a:rPr>
              <a:t>user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30" dirty="0">
                <a:solidFill>
                  <a:srgbClr val="FFFFFF"/>
                </a:solidFill>
                <a:latin typeface="Tahoma"/>
                <a:cs typeface="Tahoma"/>
              </a:rPr>
              <a:t>and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40" dirty="0">
                <a:solidFill>
                  <a:srgbClr val="FFFFFF"/>
                </a:solidFill>
                <a:latin typeface="Tahoma"/>
                <a:cs typeface="Tahoma"/>
              </a:rPr>
              <a:t>store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45" dirty="0">
                <a:solidFill>
                  <a:srgbClr val="FFFFFF"/>
                </a:solidFill>
                <a:latin typeface="Tahoma"/>
                <a:cs typeface="Tahoma"/>
              </a:rPr>
              <a:t>them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dirty="0">
                <a:solidFill>
                  <a:srgbClr val="FFFFFF"/>
                </a:solidFill>
                <a:latin typeface="Tahoma"/>
                <a:cs typeface="Tahoma"/>
              </a:rPr>
              <a:t>in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90" dirty="0">
                <a:solidFill>
                  <a:srgbClr val="FFFFFF"/>
                </a:solidFill>
                <a:latin typeface="Tahoma"/>
                <a:cs typeface="Tahoma"/>
              </a:rPr>
              <a:t>a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65" dirty="0">
                <a:solidFill>
                  <a:srgbClr val="FFFFFF"/>
                </a:solidFill>
                <a:latin typeface="Tahoma"/>
                <a:cs typeface="Tahoma"/>
              </a:rPr>
              <a:t>dictionary.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dirty="0">
                <a:solidFill>
                  <a:srgbClr val="FFFFFF"/>
                </a:solidFill>
                <a:latin typeface="Tahoma"/>
                <a:cs typeface="Tahoma"/>
              </a:rPr>
              <a:t>Start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20" dirty="0">
                <a:solidFill>
                  <a:srgbClr val="FFFFFF"/>
                </a:solidFill>
                <a:latin typeface="Tahoma"/>
                <a:cs typeface="Tahoma"/>
              </a:rPr>
              <a:t>with </a:t>
            </a:r>
            <a:r>
              <a:rPr sz="3200" spc="-140" dirty="0">
                <a:solidFill>
                  <a:srgbClr val="FFFFFF"/>
                </a:solidFill>
                <a:latin typeface="Tahoma"/>
                <a:cs typeface="Tahoma"/>
              </a:rPr>
              <a:t>an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70" dirty="0">
                <a:solidFill>
                  <a:srgbClr val="FFFFFF"/>
                </a:solidFill>
                <a:latin typeface="Tahoma"/>
                <a:cs typeface="Tahoma"/>
              </a:rPr>
              <a:t>empty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50" dirty="0">
                <a:solidFill>
                  <a:srgbClr val="FFFFFF"/>
                </a:solidFill>
                <a:latin typeface="Tahoma"/>
                <a:cs typeface="Tahoma"/>
              </a:rPr>
              <a:t>dictionary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80" dirty="0">
                <a:solidFill>
                  <a:srgbClr val="FFFFFF"/>
                </a:solidFill>
                <a:latin typeface="Tahoma"/>
                <a:cs typeface="Tahoma"/>
              </a:rPr>
              <a:t>&amp;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55" dirty="0">
                <a:solidFill>
                  <a:srgbClr val="FFFFFF"/>
                </a:solidFill>
                <a:latin typeface="Tahoma"/>
                <a:cs typeface="Tahoma"/>
              </a:rPr>
              <a:t>add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55" dirty="0">
                <a:solidFill>
                  <a:srgbClr val="FFFFFF"/>
                </a:solidFill>
                <a:latin typeface="Tahoma"/>
                <a:cs typeface="Tahoma"/>
              </a:rPr>
              <a:t>one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70" dirty="0">
                <a:solidFill>
                  <a:srgbClr val="FFFFFF"/>
                </a:solidFill>
                <a:latin typeface="Tahoma"/>
                <a:cs typeface="Tahoma"/>
              </a:rPr>
              <a:t>by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75" dirty="0">
                <a:solidFill>
                  <a:srgbClr val="FFFFFF"/>
                </a:solidFill>
                <a:latin typeface="Tahoma"/>
                <a:cs typeface="Tahoma"/>
              </a:rPr>
              <a:t>one.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65" dirty="0">
                <a:solidFill>
                  <a:srgbClr val="FFFFFF"/>
                </a:solidFill>
                <a:latin typeface="Tahoma"/>
                <a:cs typeface="Tahoma"/>
              </a:rPr>
              <a:t>Use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65" dirty="0">
                <a:solidFill>
                  <a:srgbClr val="FFFFFF"/>
                </a:solidFill>
                <a:latin typeface="Tahoma"/>
                <a:cs typeface="Tahoma"/>
              </a:rPr>
              <a:t>subject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210" dirty="0">
                <a:solidFill>
                  <a:srgbClr val="FFFFFF"/>
                </a:solidFill>
                <a:latin typeface="Tahoma"/>
                <a:cs typeface="Tahoma"/>
              </a:rPr>
              <a:t>name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95" dirty="0">
                <a:solidFill>
                  <a:srgbClr val="FFFFFF"/>
                </a:solidFill>
                <a:latin typeface="Tahoma"/>
                <a:cs typeface="Tahoma"/>
              </a:rPr>
              <a:t>as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35" dirty="0">
                <a:solidFill>
                  <a:srgbClr val="FFFFFF"/>
                </a:solidFill>
                <a:latin typeface="Tahoma"/>
                <a:cs typeface="Tahoma"/>
              </a:rPr>
              <a:t>key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80" dirty="0">
                <a:solidFill>
                  <a:srgbClr val="FFFFFF"/>
                </a:solidFill>
                <a:latin typeface="Tahoma"/>
                <a:cs typeface="Tahoma"/>
              </a:rPr>
              <a:t>&amp;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90" dirty="0">
                <a:solidFill>
                  <a:srgbClr val="FFFFFF"/>
                </a:solidFill>
                <a:latin typeface="Tahoma"/>
                <a:cs typeface="Tahoma"/>
              </a:rPr>
              <a:t>marks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95" dirty="0">
                <a:solidFill>
                  <a:srgbClr val="FFFFFF"/>
                </a:solidFill>
                <a:latin typeface="Tahoma"/>
                <a:cs typeface="Tahoma"/>
              </a:rPr>
              <a:t>as</a:t>
            </a:r>
            <a:r>
              <a:rPr sz="320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0" dirty="0">
                <a:solidFill>
                  <a:srgbClr val="FFFFFF"/>
                </a:solidFill>
                <a:latin typeface="Tahoma"/>
                <a:cs typeface="Tahoma"/>
              </a:rPr>
              <a:t>value.</a:t>
            </a:r>
            <a:endParaRPr sz="3200" dirty="0">
              <a:latin typeface="Tahoma"/>
              <a:cs typeface="Tahoma"/>
            </a:endParaRPr>
          </a:p>
        </p:txBody>
      </p:sp>
    </p:spTree>
  </p:cSld>
  <p:clrMapOvr>
    <a:masterClrMapping/>
  </p:clrMapOvr>
  <p:transition spd="med">
    <p:pull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6CF8170D-6391-4E01-12E6-C78852E1E3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09" t="9064" r="5216" b="9453"/>
          <a:stretch>
            <a:fillRect/>
          </a:stretch>
        </p:blipFill>
        <p:spPr>
          <a:xfrm>
            <a:off x="2286000" y="285750"/>
            <a:ext cx="14043314" cy="971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86914"/>
      </p:ext>
    </p:extLst>
  </p:cSld>
  <p:clrMapOvr>
    <a:masterClrMapping/>
  </p:clrMapOvr>
  <p:transition spd="med">
    <p:pull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6144B-8616-FF9C-658B-BAFE00DBB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16AB0048-8544-4591-5E9B-21FDA2FD85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Let‘s</a:t>
            </a:r>
            <a:r>
              <a:rPr spc="-415" dirty="0"/>
              <a:t> </a:t>
            </a:r>
            <a:r>
              <a:rPr spc="-30" dirty="0"/>
              <a:t>Practice</a:t>
            </a:r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70D3F566-FD04-11AB-FD0E-0BCEEB1002C9}"/>
              </a:ext>
            </a:extLst>
          </p:cNvPr>
          <p:cNvSpPr/>
          <p:nvPr/>
        </p:nvSpPr>
        <p:spPr>
          <a:xfrm>
            <a:off x="989579" y="1844187"/>
            <a:ext cx="3832225" cy="24130"/>
          </a:xfrm>
          <a:custGeom>
            <a:avLst/>
            <a:gdLst/>
            <a:ahLst/>
            <a:cxnLst/>
            <a:rect l="l" t="t" r="r" b="b"/>
            <a:pathLst>
              <a:path w="3832225" h="24130">
                <a:moveTo>
                  <a:pt x="0" y="23520"/>
                </a:moveTo>
                <a:lnTo>
                  <a:pt x="3831978" y="0"/>
                </a:lnTo>
              </a:path>
            </a:pathLst>
          </a:custGeom>
          <a:ln w="47624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190DABB-244C-1FA3-20FD-AEBCE4E7A612}"/>
              </a:ext>
            </a:extLst>
          </p:cNvPr>
          <p:cNvSpPr txBox="1"/>
          <p:nvPr/>
        </p:nvSpPr>
        <p:spPr>
          <a:xfrm>
            <a:off x="953066" y="2171700"/>
            <a:ext cx="14376400" cy="108811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5199"/>
              </a:lnSpc>
              <a:spcBef>
                <a:spcPts val="100"/>
              </a:spcBef>
            </a:pPr>
            <a:r>
              <a:rPr sz="3200" spc="-60" dirty="0">
                <a:solidFill>
                  <a:srgbClr val="FFFFFF"/>
                </a:solidFill>
                <a:latin typeface="Tahoma"/>
                <a:cs typeface="Tahoma"/>
              </a:rPr>
              <a:t>Figure</a:t>
            </a:r>
            <a:r>
              <a:rPr sz="3200" spc="-204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60" dirty="0">
                <a:solidFill>
                  <a:srgbClr val="FFFFFF"/>
                </a:solidFill>
                <a:latin typeface="Tahoma"/>
                <a:cs typeface="Tahoma"/>
              </a:rPr>
              <a:t>out</a:t>
            </a:r>
            <a:r>
              <a:rPr sz="3200" spc="-204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90" dirty="0">
                <a:solidFill>
                  <a:srgbClr val="FFFFFF"/>
                </a:solidFill>
                <a:latin typeface="Tahoma"/>
                <a:cs typeface="Tahoma"/>
              </a:rPr>
              <a:t>a</a:t>
            </a:r>
            <a:r>
              <a:rPr sz="3200" spc="-204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245" dirty="0">
                <a:solidFill>
                  <a:srgbClr val="FFFFFF"/>
                </a:solidFill>
                <a:latin typeface="Tahoma"/>
                <a:cs typeface="Tahoma"/>
              </a:rPr>
              <a:t>way</a:t>
            </a:r>
            <a:r>
              <a:rPr sz="3200" spc="-204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60" dirty="0">
                <a:solidFill>
                  <a:srgbClr val="FFFFFF"/>
                </a:solidFill>
                <a:latin typeface="Tahoma"/>
                <a:cs typeface="Tahoma"/>
              </a:rPr>
              <a:t>to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40" dirty="0">
                <a:solidFill>
                  <a:srgbClr val="FFFFFF"/>
                </a:solidFill>
                <a:latin typeface="Tahoma"/>
                <a:cs typeface="Tahoma"/>
              </a:rPr>
              <a:t>store</a:t>
            </a:r>
            <a:r>
              <a:rPr sz="3200" spc="-204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95" dirty="0">
                <a:solidFill>
                  <a:srgbClr val="FFFFFF"/>
                </a:solidFill>
                <a:latin typeface="Tahoma"/>
                <a:cs typeface="Tahoma"/>
              </a:rPr>
              <a:t>9</a:t>
            </a:r>
            <a:r>
              <a:rPr sz="3200" spc="-204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80" dirty="0">
                <a:solidFill>
                  <a:srgbClr val="FFFFFF"/>
                </a:solidFill>
                <a:latin typeface="Tahoma"/>
                <a:cs typeface="Tahoma"/>
              </a:rPr>
              <a:t>&amp;</a:t>
            </a:r>
            <a:r>
              <a:rPr sz="3200" spc="-204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05" dirty="0">
                <a:solidFill>
                  <a:srgbClr val="FFFFFF"/>
                </a:solidFill>
                <a:latin typeface="Tahoma"/>
                <a:cs typeface="Tahoma"/>
              </a:rPr>
              <a:t>9.0</a:t>
            </a:r>
            <a:r>
              <a:rPr sz="3200" spc="-204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95" dirty="0">
                <a:solidFill>
                  <a:srgbClr val="FFFFFF"/>
                </a:solidFill>
                <a:latin typeface="Tahoma"/>
                <a:cs typeface="Tahoma"/>
              </a:rPr>
              <a:t>as</a:t>
            </a:r>
            <a:r>
              <a:rPr sz="3200" spc="-2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90" dirty="0">
                <a:solidFill>
                  <a:srgbClr val="FFFFFF"/>
                </a:solidFill>
                <a:latin typeface="Tahoma"/>
                <a:cs typeface="Tahoma"/>
              </a:rPr>
              <a:t>separate</a:t>
            </a:r>
            <a:r>
              <a:rPr sz="3200" spc="-204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85" dirty="0">
                <a:solidFill>
                  <a:srgbClr val="FFFFFF"/>
                </a:solidFill>
                <a:latin typeface="Tahoma"/>
                <a:cs typeface="Tahoma"/>
              </a:rPr>
              <a:t>values</a:t>
            </a:r>
            <a:r>
              <a:rPr sz="3200" spc="-204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dirty="0">
                <a:solidFill>
                  <a:srgbClr val="FFFFFF"/>
                </a:solidFill>
                <a:latin typeface="Tahoma"/>
                <a:cs typeface="Tahoma"/>
              </a:rPr>
              <a:t>in</a:t>
            </a:r>
            <a:r>
              <a:rPr sz="3200" spc="-204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70" dirty="0">
                <a:solidFill>
                  <a:srgbClr val="FFFFFF"/>
                </a:solidFill>
                <a:latin typeface="Tahoma"/>
                <a:cs typeface="Tahoma"/>
              </a:rPr>
              <a:t>the</a:t>
            </a:r>
            <a:r>
              <a:rPr sz="3200" spc="-204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20" dirty="0">
                <a:solidFill>
                  <a:srgbClr val="FFFFFF"/>
                </a:solidFill>
                <a:latin typeface="Tahoma"/>
                <a:cs typeface="Tahoma"/>
              </a:rPr>
              <a:t>set. </a:t>
            </a:r>
            <a:br>
              <a:rPr lang="en-US" sz="3200" spc="-20" dirty="0">
                <a:solidFill>
                  <a:srgbClr val="FFFFFF"/>
                </a:solidFill>
                <a:latin typeface="Tahoma"/>
                <a:cs typeface="Tahoma"/>
              </a:rPr>
            </a:br>
            <a:r>
              <a:rPr sz="3200" spc="-175" dirty="0">
                <a:solidFill>
                  <a:srgbClr val="FFFFFF"/>
                </a:solidFill>
                <a:latin typeface="Tahoma"/>
                <a:cs typeface="Tahoma"/>
              </a:rPr>
              <a:t>(You</a:t>
            </a:r>
            <a:r>
              <a:rPr sz="3200" spc="-18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14" dirty="0">
                <a:solidFill>
                  <a:srgbClr val="FFFFFF"/>
                </a:solidFill>
                <a:latin typeface="Tahoma"/>
                <a:cs typeface="Tahoma"/>
              </a:rPr>
              <a:t>can</a:t>
            </a:r>
            <a:r>
              <a:rPr sz="3200" spc="-18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85" dirty="0">
                <a:solidFill>
                  <a:srgbClr val="FFFFFF"/>
                </a:solidFill>
                <a:latin typeface="Tahoma"/>
                <a:cs typeface="Tahoma"/>
              </a:rPr>
              <a:t>take</a:t>
            </a:r>
            <a:r>
              <a:rPr sz="3200" spc="-18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90" dirty="0">
                <a:solidFill>
                  <a:srgbClr val="FFFFFF"/>
                </a:solidFill>
                <a:latin typeface="Tahoma"/>
                <a:cs typeface="Tahoma"/>
              </a:rPr>
              <a:t>help</a:t>
            </a:r>
            <a:r>
              <a:rPr sz="3200" spc="-18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70" dirty="0">
                <a:solidFill>
                  <a:srgbClr val="FFFFFF"/>
                </a:solidFill>
                <a:latin typeface="Tahoma"/>
                <a:cs typeface="Tahoma"/>
              </a:rPr>
              <a:t>of</a:t>
            </a:r>
            <a:r>
              <a:rPr sz="3200" spc="-17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dirty="0">
                <a:solidFill>
                  <a:srgbClr val="FFFFFF"/>
                </a:solidFill>
                <a:latin typeface="Tahoma"/>
                <a:cs typeface="Tahoma"/>
              </a:rPr>
              <a:t>built-in</a:t>
            </a:r>
            <a:r>
              <a:rPr sz="3200" spc="-18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10" dirty="0">
                <a:solidFill>
                  <a:srgbClr val="FFFFFF"/>
                </a:solidFill>
                <a:latin typeface="Tahoma"/>
                <a:cs typeface="Tahoma"/>
              </a:rPr>
              <a:t>data</a:t>
            </a:r>
            <a:r>
              <a:rPr sz="3200" spc="-18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3200" spc="-10" dirty="0">
                <a:solidFill>
                  <a:srgbClr val="FFFFFF"/>
                </a:solidFill>
                <a:latin typeface="Tahoma"/>
                <a:cs typeface="Tahoma"/>
              </a:rPr>
              <a:t>types)</a:t>
            </a:r>
            <a:endParaRPr sz="3200" dirty="0">
              <a:latin typeface="Tahoma"/>
              <a:cs typeface="Tahoma"/>
            </a:endParaRPr>
          </a:p>
        </p:txBody>
      </p:sp>
      <p:pic>
        <p:nvPicPr>
          <p:cNvPr id="10" name="Picture 9" descr="A black rectangular with colorful text and green dot&#10;&#10;AI-generated content may be incorrect.">
            <a:extLst>
              <a:ext uri="{FF2B5EF4-FFF2-40B4-BE49-F238E27FC236}">
                <a16:creationId xmlns:a16="http://schemas.microsoft.com/office/drawing/2014/main" id="{5FDDB9E0-4E09-D27D-6DF1-C8839A3974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406" t="23017" r="11255" b="21739"/>
          <a:stretch>
            <a:fillRect/>
          </a:stretch>
        </p:blipFill>
        <p:spPr>
          <a:xfrm>
            <a:off x="1019771" y="3998419"/>
            <a:ext cx="13554557" cy="4463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3419278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F7026-3B11-E81A-5048-8D02C916B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533" y="4229100"/>
            <a:ext cx="15810934" cy="1107996"/>
          </a:xfrm>
        </p:spPr>
        <p:txBody>
          <a:bodyPr/>
          <a:lstStyle/>
          <a:p>
            <a:pPr algn="ctr"/>
            <a:r>
              <a:rPr lang="en-US" sz="7200" b="1" dirty="0"/>
              <a:t>Thank You So Much</a:t>
            </a:r>
          </a:p>
        </p:txBody>
      </p:sp>
    </p:spTree>
    <p:extLst>
      <p:ext uri="{BB962C8B-B14F-4D97-AF65-F5344CB8AC3E}">
        <p14:creationId xmlns:p14="http://schemas.microsoft.com/office/powerpoint/2010/main" val="1300073713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166</TotalTime>
  <Words>463</Words>
  <Application>Microsoft Office PowerPoint</Application>
  <PresentationFormat>Custom</PresentationFormat>
  <Paragraphs>51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 MT</vt:lpstr>
      <vt:lpstr>Arial Unicode MS</vt:lpstr>
      <vt:lpstr>Aptos</vt:lpstr>
      <vt:lpstr>Arial</vt:lpstr>
      <vt:lpstr>Calibri</vt:lpstr>
      <vt:lpstr>Tahoma</vt:lpstr>
      <vt:lpstr>Office Theme</vt:lpstr>
      <vt:lpstr>Lecture: 5 Data Structures or Data Types In Python [list],(tuple),{dict: dictionary},{set} </vt:lpstr>
      <vt:lpstr>Dictionary in Python</vt:lpstr>
      <vt:lpstr>PowerPoint Presentation</vt:lpstr>
      <vt:lpstr>Dictionary in Python</vt:lpstr>
      <vt:lpstr>PowerPoint Presentation</vt:lpstr>
      <vt:lpstr>Dictionary Methods</vt:lpstr>
      <vt:lpstr>Dictionary Methods</vt:lpstr>
      <vt:lpstr>Set in Python</vt:lpstr>
      <vt:lpstr>Set Methods</vt:lpstr>
      <vt:lpstr>Set Methods</vt:lpstr>
      <vt:lpstr>Set Methods</vt:lpstr>
      <vt:lpstr>Let‘s Practice</vt:lpstr>
      <vt:lpstr>Let‘s Practice</vt:lpstr>
      <vt:lpstr>Let‘s Practice</vt:lpstr>
      <vt:lpstr>PowerPoint Presentation</vt:lpstr>
      <vt:lpstr>Let‘s Practice</vt:lpstr>
      <vt:lpstr>Thank You So Much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Python4</dc:title>
  <dc:creator>Rahul Neha</dc:creator>
  <cp:keywords>DAF7ZXNOkBU,BAEHDsZUYOI</cp:keywords>
  <cp:lastModifiedBy>Sushil  Shrestha</cp:lastModifiedBy>
  <cp:revision>6</cp:revision>
  <dcterms:created xsi:type="dcterms:W3CDTF">2025-08-04T08:12:41Z</dcterms:created>
  <dcterms:modified xsi:type="dcterms:W3CDTF">2025-08-07T06:55:13Z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2024-01-31T00:00:00Z</vt:filetime>
  </property>
  <property fmtid="{D5CDD505-2E9C-101B-9397-08002B2CF9AE}" pid="3" name="Creator">
    <vt:lpwstr>Canva</vt:lpwstr>
  </property>
  <property fmtid="{D5CDD505-2E9C-101B-9397-08002B2CF9AE}" pid="4" name="LastSaved">
    <vt:filetime>2025-08-04T00:00:00Z</vt:filetime>
  </property>
  <property fmtid="{D5CDD505-2E9C-101B-9397-08002B2CF9AE}" pid="5" name="Producer">
    <vt:lpwstr>Canva</vt:lpwstr>
  </property>
</Properties>
</file>