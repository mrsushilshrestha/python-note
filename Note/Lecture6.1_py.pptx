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9" r:id="rId2"/>
    <p:sldId id="256" r:id="rId3"/>
    <p:sldId id="280" r:id="rId4"/>
    <p:sldId id="257" r:id="rId5"/>
    <p:sldId id="271" r:id="rId6"/>
    <p:sldId id="259" r:id="rId7"/>
    <p:sldId id="261" r:id="rId8"/>
    <p:sldId id="262" r:id="rId9"/>
    <p:sldId id="267" r:id="rId10"/>
    <p:sldId id="268" r:id="rId11"/>
    <p:sldId id="266" r:id="rId12"/>
    <p:sldId id="269" r:id="rId13"/>
    <p:sldId id="27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3402A-52B7-4D76-96FF-52AB92D41A87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FB8B4-5ABE-46F0-BA59-466CE47DE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4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FB8B4-5ABE-46F0-BA59-466CE47DEB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2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16F01-369E-881D-BA9A-319D90948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01DB4-A00C-EEAB-E509-9783A557F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2E6F9-4457-5AE1-B1F4-020DB16BF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0257B-D0EC-B109-1CCE-4F0F8A1BF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FB8B4-5ABE-46F0-BA59-466CE47DEB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1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2D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66" y="995042"/>
            <a:ext cx="4984750" cy="848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2912" y="1809344"/>
            <a:ext cx="15208885" cy="4804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19EF-4C60-FDCA-933E-27230883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35212"/>
            <a:ext cx="16572934" cy="4816575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C000"/>
                </a:solidFill>
              </a:rPr>
              <a:t>Lecture: 6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Loop In Python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While Loop, For Loop</a:t>
            </a:r>
            <a:br>
              <a:rPr lang="en-US" sz="4000" b="1" dirty="0">
                <a:solidFill>
                  <a:srgbClr val="00B050"/>
                </a:solidFill>
              </a:rPr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C392A-E217-54C0-96F4-B82E0BA26779}"/>
              </a:ext>
            </a:extLst>
          </p:cNvPr>
          <p:cNvSpPr txBox="1"/>
          <p:nvPr/>
        </p:nvSpPr>
        <p:spPr>
          <a:xfrm>
            <a:off x="12534334" y="8877300"/>
            <a:ext cx="5105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Sushil Shrestha</a:t>
            </a:r>
          </a:p>
        </p:txBody>
      </p:sp>
    </p:spTree>
    <p:extLst>
      <p:ext uri="{BB962C8B-B14F-4D97-AF65-F5344CB8AC3E}">
        <p14:creationId xmlns:p14="http://schemas.microsoft.com/office/powerpoint/2010/main" val="356549266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Loops</a:t>
            </a:r>
            <a:r>
              <a:rPr spc="-330" dirty="0"/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325" dirty="0">
                <a:solidFill>
                  <a:srgbClr val="FFFFFF"/>
                </a:solidFill>
              </a:rPr>
              <a:t> </a:t>
            </a:r>
            <a:r>
              <a:rPr spc="-114" dirty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58"/>
            <a:ext cx="4725670" cy="24130"/>
          </a:xfrm>
          <a:custGeom>
            <a:avLst/>
            <a:gdLst/>
            <a:ahLst/>
            <a:cxnLst/>
            <a:rect l="l" t="t" r="r" b="b"/>
            <a:pathLst>
              <a:path w="4725670" h="24130">
                <a:moveTo>
                  <a:pt x="0" y="23574"/>
                </a:moveTo>
                <a:lnTo>
                  <a:pt x="4725064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3066" y="2240617"/>
            <a:ext cx="6455410" cy="19261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Loops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repeat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instructions.</a:t>
            </a:r>
            <a:endParaRPr sz="3200" dirty="0">
              <a:latin typeface="Tahoma"/>
              <a:cs typeface="Tahoma"/>
            </a:endParaRPr>
          </a:p>
          <a:p>
            <a:pPr marL="75565">
              <a:lnSpc>
                <a:spcPct val="100000"/>
              </a:lnSpc>
              <a:spcBef>
                <a:spcPts val="3229"/>
              </a:spcBef>
            </a:pPr>
            <a:r>
              <a:rPr sz="3200" b="1" spc="-95" dirty="0">
                <a:solidFill>
                  <a:srgbClr val="3BE2EC"/>
                </a:solidFill>
                <a:latin typeface="Arial"/>
                <a:cs typeface="Arial"/>
              </a:rPr>
              <a:t>while</a:t>
            </a:r>
            <a:r>
              <a:rPr sz="3200" b="1" spc="-114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BE2EC"/>
                </a:solidFill>
                <a:latin typeface="Arial MT"/>
                <a:cs typeface="Arial MT"/>
              </a:rPr>
              <a:t>Loops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200" dirty="0">
              <a:latin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41DDA-636A-CFF4-3C22-842E1B7135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30"/>
          <a:stretch>
            <a:fillRect/>
          </a:stretch>
        </p:blipFill>
        <p:spPr>
          <a:xfrm>
            <a:off x="7924800" y="2240617"/>
            <a:ext cx="9726386" cy="746599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4061-535D-6070-1BA5-D246D702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F282ED-1CD3-9DE3-3166-A987DC226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Loops</a:t>
            </a:r>
            <a:r>
              <a:rPr spc="-330" dirty="0"/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325" dirty="0">
                <a:solidFill>
                  <a:srgbClr val="FFFFFF"/>
                </a:solidFill>
              </a:rPr>
              <a:t> </a:t>
            </a:r>
            <a:r>
              <a:rPr spc="-114" dirty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BD83406-87C3-4BB9-0B2C-4C45B2A11DA2}"/>
              </a:ext>
            </a:extLst>
          </p:cNvPr>
          <p:cNvSpPr/>
          <p:nvPr/>
        </p:nvSpPr>
        <p:spPr>
          <a:xfrm>
            <a:off x="989579" y="1844158"/>
            <a:ext cx="4725670" cy="24130"/>
          </a:xfrm>
          <a:custGeom>
            <a:avLst/>
            <a:gdLst/>
            <a:ahLst/>
            <a:cxnLst/>
            <a:rect l="l" t="t" r="r" b="b"/>
            <a:pathLst>
              <a:path w="4725670" h="24130">
                <a:moveTo>
                  <a:pt x="0" y="23574"/>
                </a:moveTo>
                <a:lnTo>
                  <a:pt x="4725064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9E6FB7A-DD3D-5409-7F9C-E86165C291C8}"/>
              </a:ext>
            </a:extLst>
          </p:cNvPr>
          <p:cNvSpPr txBox="1"/>
          <p:nvPr/>
        </p:nvSpPr>
        <p:spPr>
          <a:xfrm>
            <a:off x="953066" y="2240617"/>
            <a:ext cx="6455410" cy="222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3229"/>
              </a:spcBef>
            </a:pPr>
            <a:r>
              <a:rPr sz="3200" b="1" spc="-95" dirty="0">
                <a:solidFill>
                  <a:srgbClr val="3BE2EC"/>
                </a:solidFill>
                <a:latin typeface="Arial"/>
                <a:cs typeface="Arial"/>
              </a:rPr>
              <a:t>while</a:t>
            </a:r>
            <a:r>
              <a:rPr sz="3200" b="1" spc="-114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BE2EC"/>
                </a:solidFill>
                <a:latin typeface="Arial MT"/>
                <a:cs typeface="Arial MT"/>
              </a:rPr>
              <a:t>Loops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200" dirty="0">
              <a:latin typeface="Arial MT"/>
              <a:cs typeface="Arial MT"/>
            </a:endParaRPr>
          </a:p>
          <a:p>
            <a:pPr marL="1089025" marR="2992755" indent="-537210">
              <a:lnSpc>
                <a:spcPct val="128899"/>
              </a:lnSpc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32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condition</a:t>
            </a:r>
            <a:r>
              <a:rPr sz="32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#some</a:t>
            </a:r>
            <a:r>
              <a:rPr sz="3200" spc="-19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work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7" name="Picture 6" descr="A black rectangular with colorful text&#10;&#10;AI-generated content may be incorrect.">
            <a:extLst>
              <a:ext uri="{FF2B5EF4-FFF2-40B4-BE49-F238E27FC236}">
                <a16:creationId xmlns:a16="http://schemas.microsoft.com/office/drawing/2014/main" id="{2E96FA91-BB1D-5D9E-2494-9ACB7343A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8" t="12945" r="9768" b="13485"/>
          <a:stretch>
            <a:fillRect/>
          </a:stretch>
        </p:blipFill>
        <p:spPr>
          <a:xfrm>
            <a:off x="5937816" y="3187366"/>
            <a:ext cx="10594349" cy="712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2225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912" y="2023538"/>
            <a:ext cx="8792845" cy="14337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Print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numbers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100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85" dirty="0">
                <a:solidFill>
                  <a:srgbClr val="FFFFFF"/>
                </a:solidFill>
                <a:latin typeface="Tahoma"/>
                <a:cs typeface="Tahoma"/>
              </a:rPr>
              <a:t>1.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95"/>
              </a:spcBef>
            </a:pPr>
            <a:endParaRPr sz="3200" dirty="0">
              <a:latin typeface="Tahoma"/>
              <a:cs typeface="Tahoma"/>
            </a:endParaRP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160FF75-FACB-C70C-3AA3-4FB86E5EB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3" t="13271" r="6729" b="13271"/>
          <a:stretch>
            <a:fillRect/>
          </a:stretch>
        </p:blipFill>
        <p:spPr>
          <a:xfrm>
            <a:off x="993892" y="3238500"/>
            <a:ext cx="12192000" cy="649521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AA32-EED1-B310-F685-6A4B1FD8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C94D319-3C60-263E-7458-C059CFE02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E90EF4-B91D-DE84-9AD7-F290EDD560DA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897AABD-7B58-68F4-7D08-527C430A1D94}"/>
              </a:ext>
            </a:extLst>
          </p:cNvPr>
          <p:cNvSpPr txBox="1"/>
          <p:nvPr/>
        </p:nvSpPr>
        <p:spPr>
          <a:xfrm>
            <a:off x="953066" y="2247900"/>
            <a:ext cx="8792845" cy="14337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Print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multiplication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n.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4"/>
              </a:spcBef>
            </a:pPr>
            <a:endParaRPr sz="3200" dirty="0">
              <a:latin typeface="Tahoma"/>
              <a:cs typeface="Tahoma"/>
            </a:endParaRPr>
          </a:p>
        </p:txBody>
      </p:sp>
      <p:pic>
        <p:nvPicPr>
          <p:cNvPr id="6" name="Picture 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7697F4A-EF4F-4EE1-A820-54449A8B3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0" t="7870" r="4262" b="8593"/>
          <a:stretch>
            <a:fillRect/>
          </a:stretch>
        </p:blipFill>
        <p:spPr>
          <a:xfrm>
            <a:off x="953066" y="3390900"/>
            <a:ext cx="12801600" cy="609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5402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" dirty="0"/>
              <a:t>Loops</a:t>
            </a:r>
            <a:r>
              <a:rPr spc="-330" dirty="0"/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325" dirty="0">
                <a:solidFill>
                  <a:srgbClr val="FFFFFF"/>
                </a:solidFill>
              </a:rPr>
              <a:t> </a:t>
            </a:r>
            <a:r>
              <a:rPr spc="-114" dirty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58"/>
            <a:ext cx="4725670" cy="24130"/>
          </a:xfrm>
          <a:custGeom>
            <a:avLst/>
            <a:gdLst/>
            <a:ahLst/>
            <a:cxnLst/>
            <a:rect l="l" t="t" r="r" b="b"/>
            <a:pathLst>
              <a:path w="4725670" h="24130">
                <a:moveTo>
                  <a:pt x="0" y="23574"/>
                </a:moveTo>
                <a:lnTo>
                  <a:pt x="4725064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3232093"/>
            <a:ext cx="3486149" cy="2105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3952" y="7120452"/>
            <a:ext cx="3724274" cy="23526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2000" y="2306897"/>
            <a:ext cx="13982700" cy="303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Loops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sequential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traversal.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Tahoma"/>
                <a:cs typeface="Tahoma"/>
              </a:rPr>
              <a:t>traversing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list,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string,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Tahoma"/>
                <a:cs typeface="Tahoma"/>
              </a:rPr>
              <a:t>tuples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endParaRPr sz="3200" dirty="0">
              <a:latin typeface="Tahoma"/>
              <a:cs typeface="Tahoma"/>
            </a:endParaRPr>
          </a:p>
          <a:p>
            <a:pPr marL="12700" marR="11851640">
              <a:lnSpc>
                <a:spcPct val="189600"/>
              </a:lnSpc>
              <a:spcBef>
                <a:spcPts val="305"/>
              </a:spcBef>
            </a:pPr>
            <a:r>
              <a:rPr sz="3200" b="1" spc="-10" dirty="0">
                <a:solidFill>
                  <a:srgbClr val="3BE2EC"/>
                </a:solidFill>
                <a:latin typeface="Arial"/>
                <a:cs typeface="Arial"/>
              </a:rPr>
              <a:t>for</a:t>
            </a:r>
            <a:r>
              <a:rPr sz="3200" b="1" spc="-200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BE2EC"/>
                </a:solidFill>
                <a:latin typeface="Arial MT"/>
                <a:cs typeface="Arial MT"/>
              </a:rPr>
              <a:t>Loops 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320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52087"/>
                </a:solidFill>
                <a:latin typeface="Arial MT"/>
                <a:cs typeface="Arial MT"/>
              </a:rPr>
              <a:t>in</a:t>
            </a:r>
            <a:r>
              <a:rPr sz="3200" spc="-60" dirty="0">
                <a:solidFill>
                  <a:srgbClr val="F52087"/>
                </a:solidFill>
                <a:latin typeface="Arial MT"/>
                <a:cs typeface="Arial MT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list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3200" dirty="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1110"/>
              </a:spcBef>
            </a:pP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#some</a:t>
            </a:r>
            <a:r>
              <a:rPr sz="3200" spc="-19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work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3066" y="6242754"/>
            <a:ext cx="4552315" cy="352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3BE2EC"/>
                </a:solidFill>
                <a:latin typeface="Arial"/>
                <a:cs typeface="Arial"/>
              </a:rPr>
              <a:t>for</a:t>
            </a:r>
            <a:r>
              <a:rPr sz="3200" b="1" spc="-130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3BE2EC"/>
                </a:solidFill>
                <a:latin typeface="Arial MT"/>
                <a:cs typeface="Arial MT"/>
              </a:rPr>
              <a:t>Loop</a:t>
            </a:r>
            <a:r>
              <a:rPr sz="3200" spc="-130" dirty="0">
                <a:solidFill>
                  <a:srgbClr val="3BE2EC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BE2EC"/>
                </a:solidFill>
                <a:latin typeface="Arial MT"/>
                <a:cs typeface="Arial MT"/>
              </a:rPr>
              <a:t>with</a:t>
            </a:r>
            <a:r>
              <a:rPr sz="3200" spc="-130" dirty="0">
                <a:solidFill>
                  <a:srgbClr val="3BE2EC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BE2EC"/>
                </a:solidFill>
                <a:latin typeface="Arial MT"/>
                <a:cs typeface="Arial MT"/>
              </a:rPr>
              <a:t>else</a:t>
            </a:r>
            <a:endParaRPr sz="3200" dirty="0">
              <a:latin typeface="Arial MT"/>
              <a:cs typeface="Arial MT"/>
            </a:endParaRPr>
          </a:p>
          <a:p>
            <a:pPr marL="587375" marR="1771014" indent="-537210">
              <a:lnSpc>
                <a:spcPct val="128899"/>
              </a:lnSpc>
              <a:spcBef>
                <a:spcPts val="1955"/>
              </a:spcBef>
            </a:pP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sz="320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52087"/>
                </a:solidFill>
                <a:latin typeface="Arial MT"/>
                <a:cs typeface="Arial MT"/>
              </a:rPr>
              <a:t>in</a:t>
            </a:r>
            <a:r>
              <a:rPr sz="3200" spc="-60" dirty="0">
                <a:solidFill>
                  <a:srgbClr val="F52087"/>
                </a:solidFill>
                <a:latin typeface="Arial MT"/>
                <a:cs typeface="Arial MT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list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: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#some</a:t>
            </a:r>
            <a:r>
              <a:rPr sz="3200" spc="-19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work</a:t>
            </a:r>
            <a:endParaRPr sz="3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65"/>
              </a:spcBef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else:</a:t>
            </a:r>
            <a:endParaRPr sz="3200" dirty="0">
              <a:latin typeface="Arial MT"/>
              <a:cs typeface="Arial MT"/>
            </a:endParaRPr>
          </a:p>
          <a:p>
            <a:pPr marL="549275">
              <a:lnSpc>
                <a:spcPct val="100000"/>
              </a:lnSpc>
              <a:spcBef>
                <a:spcPts val="1110"/>
              </a:spcBef>
            </a:pPr>
            <a:r>
              <a:rPr sz="3200" spc="75" dirty="0">
                <a:solidFill>
                  <a:srgbClr val="32BD15"/>
                </a:solidFill>
                <a:latin typeface="Arial MT"/>
                <a:cs typeface="Arial MT"/>
              </a:rPr>
              <a:t>#work</a:t>
            </a:r>
            <a:r>
              <a:rPr sz="3200" spc="-8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65" dirty="0">
                <a:solidFill>
                  <a:srgbClr val="32BD15"/>
                </a:solidFill>
                <a:latin typeface="Arial MT"/>
                <a:cs typeface="Arial MT"/>
              </a:rPr>
              <a:t>when</a:t>
            </a:r>
            <a:r>
              <a:rPr sz="3200" spc="-8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loop</a:t>
            </a:r>
            <a:r>
              <a:rPr sz="3200" spc="-8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55" dirty="0">
                <a:solidFill>
                  <a:srgbClr val="32BD15"/>
                </a:solidFill>
                <a:latin typeface="Arial MT"/>
                <a:cs typeface="Arial MT"/>
              </a:rPr>
              <a:t>ends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914444" y="9142192"/>
            <a:ext cx="2907665" cy="710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400"/>
              </a:lnSpc>
              <a:spcBef>
                <a:spcPts val="100"/>
              </a:spcBef>
            </a:pPr>
            <a:r>
              <a:rPr sz="1750" spc="-70" dirty="0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sz="17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17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7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5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7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Arial MT"/>
                <a:cs typeface="Arial MT"/>
              </a:rPr>
              <a:t>doesn’t</a:t>
            </a:r>
            <a:r>
              <a:rPr sz="1750" spc="-45" dirty="0">
                <a:solidFill>
                  <a:srgbClr val="FFFFFF"/>
                </a:solidFill>
                <a:latin typeface="Arial MT"/>
                <a:cs typeface="Arial MT"/>
              </a:rPr>
              <a:t> execute </a:t>
            </a:r>
            <a:r>
              <a:rPr sz="1750" spc="-5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17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Arial MT"/>
                <a:cs typeface="Arial MT"/>
              </a:rPr>
              <a:t>break</a:t>
            </a:r>
            <a:r>
              <a:rPr sz="1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7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endParaRPr sz="175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range(</a:t>
            </a:r>
            <a:r>
              <a:rPr spc="-330" dirty="0"/>
              <a:t> </a:t>
            </a:r>
            <a:r>
              <a:rPr spc="-320"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989578" y="1844296"/>
            <a:ext cx="2153920" cy="23495"/>
          </a:xfrm>
          <a:custGeom>
            <a:avLst/>
            <a:gdLst/>
            <a:ahLst/>
            <a:cxnLst/>
            <a:rect l="l" t="t" r="r" b="b"/>
            <a:pathLst>
              <a:path w="2153920" h="23494">
                <a:moveTo>
                  <a:pt x="0" y="23297"/>
                </a:moveTo>
                <a:lnTo>
                  <a:pt x="2153414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5041184"/>
            <a:ext cx="4724399" cy="36480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3066" y="2166246"/>
            <a:ext cx="16046450" cy="2047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-150" dirty="0">
                <a:solidFill>
                  <a:srgbClr val="FFFFFF"/>
                </a:solidFill>
                <a:latin typeface="Tahoma"/>
                <a:cs typeface="Tahoma"/>
              </a:rPr>
              <a:t>Range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returns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sequence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numbers,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starting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ahoma"/>
                <a:cs typeface="Tahoma"/>
              </a:rPr>
              <a:t>default,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increments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by </a:t>
            </a:r>
            <a:r>
              <a:rPr sz="3200" spc="-3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(by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default),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stops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before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specified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number.</a:t>
            </a:r>
            <a:endParaRPr sz="3200">
              <a:latin typeface="Tahoma"/>
              <a:cs typeface="Tahoma"/>
            </a:endParaRPr>
          </a:p>
          <a:p>
            <a:pPr marL="75565">
              <a:lnSpc>
                <a:spcPct val="100000"/>
              </a:lnSpc>
              <a:spcBef>
                <a:spcPts val="3229"/>
              </a:spcBef>
            </a:pPr>
            <a:r>
              <a:rPr sz="3200" b="1" spc="-155" dirty="0">
                <a:solidFill>
                  <a:srgbClr val="3BE2EC"/>
                </a:solidFill>
                <a:latin typeface="Arial"/>
                <a:cs typeface="Arial"/>
              </a:rPr>
              <a:t>range(</a:t>
            </a:r>
            <a:r>
              <a:rPr sz="3200" b="1" spc="-125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start?,</a:t>
            </a:r>
            <a:r>
              <a:rPr sz="32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stop,</a:t>
            </a:r>
            <a:r>
              <a:rPr sz="32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step?</a:t>
            </a:r>
            <a:r>
              <a:rPr sz="3200" b="1" spc="-10" dirty="0">
                <a:solidFill>
                  <a:srgbClr val="3BE2EC"/>
                </a:solidFill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3066" y="2088185"/>
            <a:ext cx="746379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3200" spc="-30" dirty="0">
                <a:solidFill>
                  <a:srgbClr val="3BE2EC"/>
                </a:solidFill>
                <a:latin typeface="Tahoma"/>
                <a:cs typeface="Tahoma"/>
              </a:rPr>
              <a:t>using</a:t>
            </a:r>
            <a:r>
              <a:rPr sz="3200" spc="-215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3BE2EC"/>
                </a:solidFill>
                <a:latin typeface="Tahoma"/>
                <a:cs typeface="Tahoma"/>
              </a:rPr>
              <a:t>for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3BE2EC"/>
                </a:solidFill>
                <a:latin typeface="Tahoma"/>
                <a:cs typeface="Tahoma"/>
              </a:rPr>
              <a:t>&amp;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3BE2EC"/>
                </a:solidFill>
                <a:latin typeface="Tahoma"/>
                <a:cs typeface="Tahoma"/>
              </a:rPr>
              <a:t>range(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3BE2EC"/>
                </a:solidFill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br>
              <a:rPr lang="en-US" sz="3200" dirty="0">
                <a:solidFill>
                  <a:srgbClr val="FFFFFF"/>
                </a:solidFill>
                <a:latin typeface="Tahoma"/>
                <a:cs typeface="Tahoma"/>
              </a:rPr>
            </a:b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Print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multiplication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n.</a:t>
            </a:r>
            <a:endParaRPr sz="3200" dirty="0">
              <a:latin typeface="Tahoma"/>
              <a:cs typeface="Tahoma"/>
            </a:endParaRPr>
          </a:p>
        </p:txBody>
      </p:sp>
      <p:pic>
        <p:nvPicPr>
          <p:cNvPr id="6" name="Picture 5" descr="A computer screen shot of a black screen with colorful text&#10;&#10;AI-generated content may be incorrect.">
            <a:extLst>
              <a:ext uri="{FF2B5EF4-FFF2-40B4-BE49-F238E27FC236}">
                <a16:creationId xmlns:a16="http://schemas.microsoft.com/office/drawing/2014/main" id="{8815A2AA-C1D0-5843-A8A8-134F27DF5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11586" r="4703" b="11792"/>
          <a:stretch>
            <a:fillRect/>
          </a:stretch>
        </p:blipFill>
        <p:spPr>
          <a:xfrm>
            <a:off x="989579" y="3992550"/>
            <a:ext cx="16823071" cy="5432227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FBCF9-7958-DB40-F2E7-26852940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9E3791-6C1C-9C76-E987-57FC1112F1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3060D24-01FF-341B-C9EC-5FA1875C0EA5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B831FCA-2F20-6523-A07F-B2A48760E52C}"/>
              </a:ext>
            </a:extLst>
          </p:cNvPr>
          <p:cNvSpPr txBox="1"/>
          <p:nvPr/>
        </p:nvSpPr>
        <p:spPr>
          <a:xfrm>
            <a:off x="953066" y="2088185"/>
            <a:ext cx="7463790" cy="2080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3200" spc="-30" dirty="0">
                <a:solidFill>
                  <a:srgbClr val="3BE2EC"/>
                </a:solidFill>
                <a:latin typeface="Tahoma"/>
                <a:cs typeface="Tahoma"/>
              </a:rPr>
              <a:t>using</a:t>
            </a:r>
            <a:r>
              <a:rPr sz="3200" spc="-215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3BE2EC"/>
                </a:solidFill>
                <a:latin typeface="Tahoma"/>
                <a:cs typeface="Tahoma"/>
              </a:rPr>
              <a:t>for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3BE2EC"/>
                </a:solidFill>
                <a:latin typeface="Tahoma"/>
                <a:cs typeface="Tahoma"/>
              </a:rPr>
              <a:t>&amp;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3BE2EC"/>
                </a:solidFill>
                <a:latin typeface="Tahoma"/>
                <a:cs typeface="Tahoma"/>
              </a:rPr>
              <a:t>range(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3BE2EC"/>
                </a:solidFill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Print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numbers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100.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3200" dirty="0">
              <a:latin typeface="Tahoma"/>
              <a:cs typeface="Tahoma"/>
            </a:endParaRPr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A78D7B4-1505-03AE-6978-ED07C4208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1" t="11826" r="3421" b="8507"/>
          <a:stretch>
            <a:fillRect/>
          </a:stretch>
        </p:blipFill>
        <p:spPr>
          <a:xfrm>
            <a:off x="520191" y="4117673"/>
            <a:ext cx="17247617" cy="517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810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878F-6FC2-348B-6BAF-B22EA55A3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9558E5-96EC-E5DB-7964-9CF439D0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126F7A9-39A1-96F9-CD43-021C0E0DA9B8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068CDA-1BC1-9C73-B463-8D1C02706ED0}"/>
              </a:ext>
            </a:extLst>
          </p:cNvPr>
          <p:cNvSpPr txBox="1"/>
          <p:nvPr/>
        </p:nvSpPr>
        <p:spPr>
          <a:xfrm>
            <a:off x="953066" y="2088185"/>
            <a:ext cx="746379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3200" spc="-30" dirty="0">
                <a:solidFill>
                  <a:srgbClr val="3BE2EC"/>
                </a:solidFill>
                <a:latin typeface="Tahoma"/>
                <a:cs typeface="Tahoma"/>
              </a:rPr>
              <a:t>using</a:t>
            </a:r>
            <a:r>
              <a:rPr sz="3200" spc="-215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3BE2EC"/>
                </a:solidFill>
                <a:latin typeface="Tahoma"/>
                <a:cs typeface="Tahoma"/>
              </a:rPr>
              <a:t>for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3BE2EC"/>
                </a:solidFill>
                <a:latin typeface="Tahoma"/>
                <a:cs typeface="Tahoma"/>
              </a:rPr>
              <a:t>&amp;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3BE2EC"/>
                </a:solidFill>
                <a:latin typeface="Tahoma"/>
                <a:cs typeface="Tahoma"/>
              </a:rPr>
              <a:t>range(</a:t>
            </a:r>
            <a:r>
              <a:rPr sz="3200" spc="-21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3BE2EC"/>
                </a:solidFill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br>
              <a:rPr lang="en-US" sz="3200" dirty="0">
                <a:solidFill>
                  <a:srgbClr val="FFFFFF"/>
                </a:solidFill>
                <a:latin typeface="Tahoma"/>
                <a:cs typeface="Tahoma"/>
              </a:rPr>
            </a:b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Print</a:t>
            </a:r>
            <a:r>
              <a:rPr sz="32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numbers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100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85" dirty="0">
                <a:solidFill>
                  <a:srgbClr val="FFFFFF"/>
                </a:solidFill>
                <a:latin typeface="Tahoma"/>
                <a:cs typeface="Tahoma"/>
              </a:rPr>
              <a:t>1.</a:t>
            </a:r>
            <a:endParaRPr sz="3200" dirty="0">
              <a:latin typeface="Tahoma"/>
              <a:cs typeface="Tahoma"/>
            </a:endParaRP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A056871-8B2E-1D0D-4438-E2F069715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3" t="10166" r="3422" b="10166"/>
          <a:stretch>
            <a:fillRect/>
          </a:stretch>
        </p:blipFill>
        <p:spPr>
          <a:xfrm>
            <a:off x="802482" y="4243348"/>
            <a:ext cx="16683035" cy="503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9863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6657-56A0-B8A4-B821-5A048474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B92E76-74BA-73F9-D9F2-321BFA9F2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BC3EA4C-650F-0C50-2334-24E8EC263720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1FCD022-951B-4E03-76B9-033BC80F031B}"/>
              </a:ext>
            </a:extLst>
          </p:cNvPr>
          <p:cNvSpPr txBox="1"/>
          <p:nvPr/>
        </p:nvSpPr>
        <p:spPr>
          <a:xfrm>
            <a:off x="953066" y="2400300"/>
            <a:ext cx="1642053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n-lt"/>
              </a:rPr>
              <a:t>WAP to Print numbers from 0 to 10, increasing by 2</a:t>
            </a:r>
          </a:p>
        </p:txBody>
      </p:sp>
      <p:pic>
        <p:nvPicPr>
          <p:cNvPr id="7" name="Picture 6" descr="A black rectangular with green and red text&#10;&#10;AI-generated content may be incorrect.">
            <a:extLst>
              <a:ext uri="{FF2B5EF4-FFF2-40B4-BE49-F238E27FC236}">
                <a16:creationId xmlns:a16="http://schemas.microsoft.com/office/drawing/2014/main" id="{5718A312-429A-7335-5C68-F7B7A3781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" t="12565" r="3183" b="9911"/>
          <a:stretch>
            <a:fillRect/>
          </a:stretch>
        </p:blipFill>
        <p:spPr>
          <a:xfrm>
            <a:off x="528029" y="3467100"/>
            <a:ext cx="17231941" cy="521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909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F978-E7BD-14E7-6C7C-EC7EE2A7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B453DD-D8BA-4D33-8083-79B071852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4246" y="692439"/>
            <a:ext cx="4984750" cy="848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31C2B10-4DFB-1709-E673-5964D1B8D983}"/>
              </a:ext>
            </a:extLst>
          </p:cNvPr>
          <p:cNvSpPr/>
          <p:nvPr/>
        </p:nvSpPr>
        <p:spPr>
          <a:xfrm>
            <a:off x="984246" y="1556188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40086F0-59CA-ABDF-412F-6FCEC809DF4F}"/>
              </a:ext>
            </a:extLst>
          </p:cNvPr>
          <p:cNvSpPr txBox="1"/>
          <p:nvPr/>
        </p:nvSpPr>
        <p:spPr>
          <a:xfrm>
            <a:off x="984246" y="1896047"/>
            <a:ext cx="16420534" cy="20569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WAP reverse string "</a:t>
            </a:r>
            <a:r>
              <a:rPr lang="en-US" sz="4400" dirty="0" err="1">
                <a:solidFill>
                  <a:schemeClr val="bg1"/>
                </a:solidFill>
              </a:rPr>
              <a:t>tribhuvanuniversity</a:t>
            </a:r>
            <a:r>
              <a:rPr lang="en-US" sz="4400" dirty="0">
                <a:solidFill>
                  <a:schemeClr val="bg1"/>
                </a:solidFill>
              </a:rPr>
              <a:t>" to "</a:t>
            </a:r>
            <a:r>
              <a:rPr lang="en-US" sz="4400" dirty="0" err="1">
                <a:solidFill>
                  <a:schemeClr val="bg1"/>
                </a:solidFill>
              </a:rPr>
              <a:t>ytisrevinuvahbirt</a:t>
            </a:r>
            <a:r>
              <a:rPr lang="en-US" sz="4400" dirty="0">
                <a:solidFill>
                  <a:schemeClr val="bg1"/>
                </a:solidFill>
              </a:rPr>
              <a:t>“ using for loop</a:t>
            </a:r>
          </a:p>
          <a:p>
            <a:pPr marL="75565">
              <a:lnSpc>
                <a:spcPct val="100000"/>
              </a:lnSpc>
              <a:spcBef>
                <a:spcPts val="100"/>
              </a:spcBef>
            </a:pPr>
            <a:endParaRPr sz="4400" dirty="0">
              <a:solidFill>
                <a:schemeClr val="bg1"/>
              </a:solidFill>
              <a:latin typeface="+mn-lt"/>
              <a:cs typeface="Tahoma"/>
            </a:endParaRP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19C32BF-F50A-E13E-5690-664727F56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0" t="10212" r="4918" b="12643"/>
          <a:stretch>
            <a:fillRect/>
          </a:stretch>
        </p:blipFill>
        <p:spPr>
          <a:xfrm>
            <a:off x="984246" y="3936486"/>
            <a:ext cx="15468600" cy="520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074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1502-FE19-FC55-4F48-F77BB0D3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848100"/>
            <a:ext cx="15963334" cy="1107996"/>
          </a:xfrm>
        </p:spPr>
        <p:txBody>
          <a:bodyPr/>
          <a:lstStyle/>
          <a:p>
            <a:pPr algn="ctr"/>
            <a:r>
              <a:rPr lang="en-US" sz="7200" b="1" dirty="0"/>
              <a:t>Thank You So Much</a:t>
            </a:r>
          </a:p>
        </p:txBody>
      </p:sp>
    </p:spTree>
    <p:extLst>
      <p:ext uri="{BB962C8B-B14F-4D97-AF65-F5344CB8AC3E}">
        <p14:creationId xmlns:p14="http://schemas.microsoft.com/office/powerpoint/2010/main" val="379304832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255</Words>
  <Application>Microsoft Office PowerPoint</Application>
  <PresentationFormat>Custom</PresentationFormat>
  <Paragraphs>41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Arial MT</vt:lpstr>
      <vt:lpstr>Calibri</vt:lpstr>
      <vt:lpstr>Tahoma</vt:lpstr>
      <vt:lpstr>Office Theme</vt:lpstr>
      <vt:lpstr>Lecture: 6 Loop In Python While Loop, For Loop </vt:lpstr>
      <vt:lpstr>Loops in Python</vt:lpstr>
      <vt:lpstr>Loops in Python</vt:lpstr>
      <vt:lpstr>Let‘s Practice</vt:lpstr>
      <vt:lpstr>Let‘s Practice</vt:lpstr>
      <vt:lpstr>Loops in Python</vt:lpstr>
      <vt:lpstr>range( )</vt:lpstr>
      <vt:lpstr>Let‘s Practice</vt:lpstr>
      <vt:lpstr>Let‘s Practice</vt:lpstr>
      <vt:lpstr>Let‘s Practice</vt:lpstr>
      <vt:lpstr>Let‘s Practice</vt:lpstr>
      <vt:lpstr>Let‘s Practice</vt:lpstr>
      <vt:lpstr>Thank You So Much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Python5</dc:title>
  <dc:creator>Rahul Neha</dc:creator>
  <cp:keywords>DAF7idRgRBQ,BAEHDsZUYOI</cp:keywords>
  <cp:lastModifiedBy>Sushil Shrestha</cp:lastModifiedBy>
  <cp:revision>15</cp:revision>
  <dcterms:created xsi:type="dcterms:W3CDTF">2025-08-04T08:14:36Z</dcterms:created>
  <dcterms:modified xsi:type="dcterms:W3CDTF">2026-07-18T17:12:49Z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2024-02-01T00:00:00Z</vt:filetime>
  </property>
  <property fmtid="{D5CDD505-2E9C-101B-9397-08002B2CF9AE}" pid="3" name="Creator">
    <vt:lpwstr>Canva</vt:lpwstr>
  </property>
  <property fmtid="{D5CDD505-2E9C-101B-9397-08002B2CF9AE}" pid="4" name="LastSaved">
    <vt:filetime>2025-08-04T00:00:00Z</vt:filetime>
  </property>
  <property fmtid="{D5CDD505-2E9C-101B-9397-08002B2CF9AE}" pid="5" name="Producer">
    <vt:lpwstr>Canva</vt:lpwstr>
  </property>
</Properties>
</file>